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323" r:id="rId4"/>
    <p:sldId id="258" r:id="rId5"/>
    <p:sldId id="259" r:id="rId6"/>
    <p:sldId id="260" r:id="rId7"/>
    <p:sldId id="280" r:id="rId8"/>
    <p:sldId id="261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320" r:id="rId17"/>
    <p:sldId id="288" r:id="rId18"/>
    <p:sldId id="292" r:id="rId19"/>
    <p:sldId id="289" r:id="rId20"/>
    <p:sldId id="321" r:id="rId21"/>
    <p:sldId id="305" r:id="rId22"/>
    <p:sldId id="322" r:id="rId23"/>
    <p:sldId id="304" r:id="rId24"/>
    <p:sldId id="306" r:id="rId25"/>
    <p:sldId id="307" r:id="rId26"/>
    <p:sldId id="294" r:id="rId27"/>
    <p:sldId id="295" r:id="rId28"/>
    <p:sldId id="296" r:id="rId29"/>
    <p:sldId id="297" r:id="rId30"/>
    <p:sldId id="312" r:id="rId31"/>
    <p:sldId id="313" r:id="rId32"/>
    <p:sldId id="314" r:id="rId33"/>
    <p:sldId id="300" r:id="rId34"/>
    <p:sldId id="315" r:id="rId35"/>
    <p:sldId id="316" r:id="rId36"/>
    <p:sldId id="317" r:id="rId37"/>
    <p:sldId id="318" r:id="rId38"/>
    <p:sldId id="31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24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6A7C7-55EA-1D75-9099-DAA12CBD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D3DB6-0EA0-B8FF-CDB6-90AD5980C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8F648-FE02-84FD-3C14-8CEA240B2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FAFF4-4D15-D99B-6BEB-6648B1154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0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635EA-88B9-0F25-F467-88262F5D5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487AA-41E3-4A6F-831B-114146437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54AB4-105E-2138-398E-F34FC3CA7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B4BF9-FF2B-C4DF-434E-2C1E35212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166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FBD7-DAE1-40B8-14E9-83E20278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4B158-B5A6-4F2B-02C6-BD0B75717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26845-6D14-DFE5-EE6C-EF2640DC8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56D64-CA9C-240F-8544-A0770D109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81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DCBF6F-B729-8672-EBDA-25C4E2CC30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69689" y="372443"/>
            <a:ext cx="1407656" cy="29894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083040" y="3749040"/>
            <a:ext cx="3108960" cy="3108960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10369920" y="4960620"/>
            <a:ext cx="685800" cy="685800"/>
          </a:xfrm>
          <a:prstGeom prst="cub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risk_utils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EEA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Organizing, Packaging &amp; Publishing a Real Python Package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Faisal Goussous   </a:t>
            </a:r>
            <a:r>
              <a:rPr lang="en-US" sz="130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  August 2026</a:t>
            </a:r>
            <a:endParaRPr lang="en-US" sz="1300" dirty="0"/>
          </a:p>
        </p:txBody>
      </p:sp>
      <p:pic>
        <p:nvPicPr>
          <p:cNvPr id="9" name="Iktimal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2387000" cy="50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chevr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 Back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YESTERDAY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 Python refresher, then modularity &amp; classes</a:t>
            </a: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Inheritance &amp; access control</a:t>
            </a: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Decorators — @timer, @log_call</a:t>
            </a: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 Control Basics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 we make risk_utils real — not class demos, but code other people will actually import.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029200" cy="4114800"/>
          </a:xfrm>
          <a:prstGeom prst="roundRect">
            <a:avLst>
              <a:gd name="adj" fmla="val 1333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662940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423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Organize risk_utils into a real package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2953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Version, install &amp; document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34838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Commit, push, merge to main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40142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Grading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EEA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4544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Advanced Topics: </a:t>
            </a:r>
            <a:r>
              <a:rPr lang="en-US" sz="1400" dirty="0" err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Actions, CI/CD, Design Patterns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685EC-BF22-4A70-BF9D-29367DE0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AF7AC3-62C1-29D0-EDC3-645E4D308AA1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695296-2C7A-C3A0-9EF7-B063C53023CA}"/>
              </a:ext>
            </a:extLst>
          </p:cNvPr>
          <p:cNvSpPr/>
          <p:nvPr/>
        </p:nvSpPr>
        <p:spPr>
          <a:xfrm>
            <a:off x="745968" y="654802"/>
            <a:ext cx="263347" cy="263347"/>
          </a:xfrm>
          <a:prstGeom prst="chevr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F731FC-6002-C024-CB9D-69C073695D3B}"/>
              </a:ext>
            </a:extLst>
          </p:cNvPr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35108F-5F23-8C8E-3B71-5653A5FFEE3D}"/>
              </a:ext>
            </a:extLst>
          </p:cNvPr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Welcome Back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693FEF-D851-5DFD-EFCB-9502F200357F}"/>
              </a:ext>
            </a:extLst>
          </p:cNvPr>
          <p:cNvSpPr/>
          <p:nvPr/>
        </p:nvSpPr>
        <p:spPr>
          <a:xfrm>
            <a:off x="548640" y="1737359"/>
            <a:ext cx="6537960" cy="3283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What’s a better way to welcome you back than with a quiz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sym typeface="Wingdings" panose="05000000000000000000" pitchFamily="2" charset="2"/>
              </a:rPr>
              <a:t>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>
              <a:solidFill>
                <a:srgbClr val="1D211F"/>
              </a:solidFill>
              <a:latin typeface="IBM Plex Sans" pitchFamily="34" charset="0"/>
            </a:endParaRP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</a:rPr>
              <a:t>On mobile: </a:t>
            </a:r>
          </a:p>
          <a:p>
            <a:pPr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</a:rPr>
              <a:t>	Scan the QR Code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b="1" dirty="0"/>
              <a:t>OR On your laptop: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https://app.sli.do/event/cFJrmPyV7GzZx4FVBgXE3T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3FE149-0D0B-CEB9-1BC7-EBA0EBD5085A}"/>
              </a:ext>
            </a:extLst>
          </p:cNvPr>
          <p:cNvSpPr/>
          <p:nvPr/>
        </p:nvSpPr>
        <p:spPr>
          <a:xfrm>
            <a:off x="7086600" y="2423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Organize risk_utils into a real package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C260E6E-DE7B-3F72-CDAC-7709BBC5CB1B}"/>
              </a:ext>
            </a:extLst>
          </p:cNvPr>
          <p:cNvSpPr/>
          <p:nvPr/>
        </p:nvSpPr>
        <p:spPr>
          <a:xfrm>
            <a:off x="7086600" y="2953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Version, install &amp; document it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37ED472-DA19-382E-9183-7EBE9E5BC12D}"/>
              </a:ext>
            </a:extLst>
          </p:cNvPr>
          <p:cNvSpPr/>
          <p:nvPr/>
        </p:nvSpPr>
        <p:spPr>
          <a:xfrm>
            <a:off x="7086600" y="34838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Commit, push, merge to main</a:t>
            </a:r>
            <a:endParaRPr lang="en-US" sz="1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DFF8337-056C-7687-2043-3CE35BB3CDB4}"/>
              </a:ext>
            </a:extLst>
          </p:cNvPr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A4DFEBC-18FA-D319-4A5F-BA07E0054CE6}"/>
              </a:ext>
            </a:extLst>
          </p:cNvPr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D3DE8F5-7C12-EDF2-E39D-84E59318B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963" y="1266825"/>
            <a:ext cx="4324349" cy="432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2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su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Package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Copy-pasting scripts between courses breaks the moment one course fixes a bug the others still have.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package installs once, updates once — every course importing risk_utils gets the fix.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Versioning means “which risk_utils am I running?” has a real answer instead of “whichever .py file I happened to grab.”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ORGANIZATION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Modules vs. Packages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just a .py file — import validation gives you everything defined in validation.py.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a folder of modules with an </a:t>
            </a: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__init__.py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it's what makes import risk_utils work at all.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__init__.py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be empty, or it can pick which names show up at the top level of the package.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cub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 ORGANIZATION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Structuring risk_utils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risk_utils/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__init__.py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models.py             # Transaction, BitcoinTransaction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decorators.py         # @timer, @log_call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validation.py         # schema &amp; outlier checks (provided)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fraud.py              # velocity &amp; Benford's checks, SQL (provided)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io.py                 # bulk-load CSV/Excel into DuckDB (today)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data/                     # sample CSV/Excel exports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tests/                    # pytest suite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pyproject.toml            # packaging metadata (today)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fram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 CREATION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Anatomy of a Package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pyproject.toml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 file that turns a folder of code into something pip can install — name, version, dependencies.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__init__.py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marks risk_utils/ as an importable package and controls what from risk_utils import * actually exposes.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Standard layout matters: pip, pytest, and IDEs all expect this shape and get confused when it's missing.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risk_utils/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59"/>
            <a:ext cx="10789920" cy="280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</a:t>
            </a:r>
            <a:r>
              <a:rPr lang="en-US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risk_utils</a:t>
            </a: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 in your Codespace - six files should already be there: __init__.py, models.py, decorators.py, validation.py, fraud.py, external_io.py.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 each file to what it's for, using the tree on the previous slide: models.py holds Transaction/BitcoinTransaction, decorators.py holds @timer/@log_call, and so on.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</a:t>
            </a:r>
            <a:r>
              <a:rPr lang="en-US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__init__.py </a:t>
            </a: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 this is the file that makes `from risk_utils import Transaction` work, instead of the longer `from risk_utils.models import Transaction`.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4727605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31520" y="5102326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63194" y="471354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1325880" y="4837333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one file and explain to a partner what it's for.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frame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 CREATION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Writing pyproject.toml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[project]</a:t>
            </a:r>
            <a:endParaRPr lang="en-US" sz="16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</a:t>
            </a: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"risk_utils"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version</a:t>
            </a: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"0.1.0"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</a:t>
            </a: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"Shared risk-analysis utilities for the training program"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requires-python</a:t>
            </a: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"&gt;=3.10"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dependencies</a:t>
            </a: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[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"pandas",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"duckdb",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]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[build-system]</a:t>
            </a:r>
            <a:endParaRPr lang="en-US" sz="16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requires</a:t>
            </a: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["setuptools"]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build-backend</a:t>
            </a:r>
            <a:r>
              <a:rPr lang="en-US" sz="16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= "setuptools.build_meta"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VERSIONING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&amp; Why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MAJOR.MINOR.PATCH — e.g. 1.4.2. Each number means something specific, and other code can depend on that meaning.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PATCH: bug fix, nothing changes for callers. MINOR: new feature, old code still works. MAJOR: something breaks.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matters here specifically because future cohorts will pip install risk_utils — a careless bump breaks someone else's class.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hex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SEMANTIC VERSIONING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4280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fix a typo in an error message inside check_positive_amount. </a:t>
            </a:r>
          </a:p>
          <a:p>
            <a:pPr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0.1.0 → ? 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(0.1.1 — PATCH)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add a new function to validation.py, and everything else still works.</a:t>
            </a:r>
          </a:p>
          <a:p>
            <a:pPr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0.1.1 → ? 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(0.2.0 — MINOR)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rename flag_velocity to flag_risk_velocity, </a:t>
            </a: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breaking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every import that used the old name. </a:t>
            </a:r>
          </a:p>
          <a:p>
            <a:pPr>
              <a:lnSpc>
                <a:spcPct val="108000"/>
              </a:lnSpc>
              <a:spcAft>
                <a:spcPts val="1200"/>
              </a:spcAft>
              <a:buSzPct val="100000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0.2.0 → ? 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(1.0.0 — MAJOR)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pyproject.toml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pyproject.toml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[project]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 = "risk_utils"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version = "0.1.0"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 = "Shared risk-analysis utilities for the training program"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requires-python = "&gt;=3.10"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dependencies = ["pandas", "duckdb"]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line that sets the minimum Python version, and the line you'd edit to add a new dependency.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down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INSTALLING YOUR PACKAGE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 install -e 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cd risk_utils/</a:t>
            </a:r>
            <a:endParaRPr lang="en-US" sz="20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pip install -e .</a:t>
            </a:r>
            <a:endParaRPr lang="en-US" sz="2000" b="1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-e = "editable" install: pip links to this folder instead of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copying it, so source edits take effect immediately -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no reinstall needed after every change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-c "from risk_utils import Transaction; print(Transaction)"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&amp; Verify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3871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pip install -e .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&gt;&gt;&gt; from risk_utils import check_positive_amount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&gt;&gt;&gt; check_positive_amount(15000)</a:t>
            </a:r>
            <a:endParaRPr lang="en-US" sz="2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2960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218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Close and reopen your terminal, then import risk_utils again without reinstalling — confirm it still works. Once confirmed, commit and push any changes, same as before.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hep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Docstrings &amp; README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check_positive_amount(amount):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"""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Raise if amount is not a positive number.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Args: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amount (float): transaction amount_paid.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Returns: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bool: True if positive; raises ValueError otherwise.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"""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amount &lt;= 0: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raise ValueError(f"amount_paid must be positive, got {amount}")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True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README.md answers: what is this for, and how do I use it?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90D6D-1A77-6CB7-40FE-1AB64272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952912-D366-8818-735F-C1BC81914798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8DB9F4-9A22-272F-DCE4-1B45D17729CF}"/>
              </a:ext>
            </a:extLst>
          </p:cNvPr>
          <p:cNvSpPr/>
          <p:nvPr/>
        </p:nvSpPr>
        <p:spPr>
          <a:xfrm>
            <a:off x="745968" y="654802"/>
            <a:ext cx="263347" cy="263347"/>
          </a:xfrm>
          <a:prstGeom prst="hep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BB79FC-7275-B056-4FBD-E9808F1D10AC}"/>
              </a:ext>
            </a:extLst>
          </p:cNvPr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9CA444-1B8A-4D23-8A23-DE5D1F14E47F}"/>
              </a:ext>
            </a:extLst>
          </p:cNvPr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Docstrings vs Code Comments 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12F02C-28D9-35AA-3F3C-7B1F7ECC58F4}"/>
              </a:ext>
            </a:extLst>
          </p:cNvPr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E31452C-55B5-8CAE-A1BB-41292D8E0287}"/>
              </a:ext>
            </a:extLst>
          </p:cNvPr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3C7F0-19C1-460B-30D3-6DDDB068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445994"/>
            <a:ext cx="8021169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02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right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the Docs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</a:t>
            </a:r>
            <a:r>
              <a:rPr lang="en-US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validation.py </a:t>
            </a: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read the docstring on </a:t>
            </a:r>
            <a:r>
              <a:rPr lang="en-US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zscore_tag </a:t>
            </a: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 it explains a real statistical limitation, not just what the function does.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the README.md at the repo root - it's the same one a future student reads before running pip install.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Docstrings and READMEs are the same idea as a code comment, aimed at someone who never watched you write the code.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Shape 6"/>
          <p:cNvSpPr/>
          <p:nvPr/>
        </p:nvSpPr>
        <p:spPr>
          <a:xfrm>
            <a:off x="731520" y="458096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863194" y="471354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1325880" y="431596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docstring for zscore_tag in validation.py - why would it fail to flag an outlier in a batch of only 5 transactions?</a:t>
            </a:r>
            <a:endParaRPr lang="en-US" sz="1200" b="1" dirty="0"/>
          </a:p>
        </p:txBody>
      </p:sp>
      <p:sp>
        <p:nvSpPr>
          <p:cNvPr id="11" name="Text 9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up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MERGING TO MAIN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Review Matters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own scratch script only has to make sense to you. risk_utils has to make sense to everyone who imports it.</a:t>
            </a: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</a:t>
            </a: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set of eyes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catches the missing null check, the copy-pasted docstring, the version bump nobody remembered.</a:t>
            </a: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before merge is the last checkpoint before “it works on my machine” becomes “a dependency for three other courses.”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73467" y="703174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84583" y="3017520"/>
            <a:ext cx="30894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Basics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test_check_required_fields():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txn = {"Account": "A1", "Amount_Paid": 100, "Timestamp": "2024-01-01"}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assert check_required_fields(txn) is True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test_check_positive_amount_raises():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try: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check_positive_amount(-100)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assert False, "should have raised"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except ValueError: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pass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test_check_required_fields()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test_check_positive_amount_raises()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print("all tests passed")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046F5-83F7-0E55-CF59-8F0A49BD1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0280EA-53A1-A15C-C36D-9EA81287CF95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B92BDD-07BC-DA41-49DD-1BE1C7419DFD}"/>
              </a:ext>
            </a:extLst>
          </p:cNvPr>
          <p:cNvSpPr/>
          <p:nvPr/>
        </p:nvSpPr>
        <p:spPr>
          <a:xfrm>
            <a:off x="745968" y="654802"/>
            <a:ext cx="263347" cy="263347"/>
          </a:xfrm>
          <a:prstGeom prst="star5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4C9307-05C5-849E-DFCE-2C35BB1FAFD6}"/>
              </a:ext>
            </a:extLst>
          </p:cNvPr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1F4D9F-522F-32F4-DDB6-6FD64A88AE32}"/>
              </a:ext>
            </a:extLst>
          </p:cNvPr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Basics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514EB9-4685-B4A8-C5AC-819B25F1D09C}"/>
              </a:ext>
            </a:extLst>
          </p:cNvPr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EA783A-43E2-38F9-BF62-7334370A99F6}"/>
              </a:ext>
            </a:extLst>
          </p:cNvPr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test_check_required_fields():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txn = {"Account": "A1", "Amount_Paid": 100, "Timestamp": "2024-01-01"}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assert check_required_fields(txn) is True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test_check_positive_amount_raises():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try: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check_positive_amount(-100)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assert False, "should have raised"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except ValueError: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pass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test_check_required_fields()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test_check_positive_amount_raises()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print("all tests passed")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C108DE-CAAB-04AD-0701-A02EA675BB77}"/>
              </a:ext>
            </a:extLst>
          </p:cNvPr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20AE406-8C4F-8FFC-EA88-E9ABB8AE025A}"/>
              </a:ext>
            </a:extLst>
          </p:cNvPr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8080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gear6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the Test Suite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283464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WRITE"/>
          <p:cNvSpPr/>
          <p:nvPr/>
        </p:nvSpPr>
        <p:spPr>
          <a:xfrm>
            <a:off x="749808" y="1828800"/>
            <a:ext cx="10387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87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9808" y="2103120"/>
            <a:ext cx="1038758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pip install -e ".[dev]"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pytest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or, without installing the dev extra: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tests/run_all_tests.py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============ 31 passed in 0.42s ============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731520" y="5130561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863194" y="5263149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1325880" y="4864608"/>
            <a:ext cx="98298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the suite yourself - all 31 tests across test_models.py, test_validation.py, test_fraud.py, and test_io.py should pass.</a:t>
            </a:r>
            <a:endParaRPr lang="en-US" sz="1100" dirty="0"/>
          </a:p>
        </p:txBody>
      </p:sp>
      <p:sp>
        <p:nvSpPr>
          <p:cNvPr id="13" name="Text F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4" name="Text F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426230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3BCC-01A4-A55F-9EF0-38E2037D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ADB8B7-A334-3176-1786-19D24236C674}"/>
              </a:ext>
            </a:extLst>
          </p:cNvPr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8764A26-47B5-7B1A-AE97-DFD2D1348403}"/>
              </a:ext>
            </a:extLst>
          </p:cNvPr>
          <p:cNvSpPr/>
          <p:nvPr/>
        </p:nvSpPr>
        <p:spPr>
          <a:xfrm>
            <a:off x="745968" y="654802"/>
            <a:ext cx="263347" cy="263347"/>
          </a:xfrm>
          <a:prstGeom prst="gear6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5FA2DB-BA5A-59B4-D580-D25A78125B91}"/>
              </a:ext>
            </a:extLst>
          </p:cNvPr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CI/CD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EC4325-AAFC-55E3-CFCD-2097EE83CC5F}"/>
              </a:ext>
            </a:extLst>
          </p:cNvPr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Practical: Testing</a:t>
            </a:r>
            <a:endParaRPr lang="en-US" sz="2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F51D259-7BA5-8D3D-356D-0D369AF13033}"/>
              </a:ext>
            </a:extLst>
          </p:cNvPr>
          <p:cNvSpPr/>
          <p:nvPr/>
        </p:nvSpPr>
        <p:spPr>
          <a:xfrm>
            <a:off x="484471" y="1771835"/>
            <a:ext cx="7199697" cy="3217944"/>
          </a:xfrm>
          <a:prstGeom prst="roundRect">
            <a:avLst>
              <a:gd name="adj" fmla="val 6923"/>
            </a:avLst>
          </a:prstGeom>
          <a:solidFill>
            <a:srgbClr val="FBF7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34BD31B-BEB6-4545-62C2-F1F45CDE13FA}"/>
              </a:ext>
            </a:extLst>
          </p:cNvPr>
          <p:cNvSpPr/>
          <p:nvPr/>
        </p:nvSpPr>
        <p:spPr>
          <a:xfrm>
            <a:off x="512064" y="1964324"/>
            <a:ext cx="438912" cy="438912"/>
          </a:xfrm>
          <a:prstGeom prst="ellipse">
            <a:avLst/>
          </a:prstGeom>
          <a:solidFill>
            <a:srgbClr val="C9A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633DBD6-C670-5F9A-9927-FF02F28BB1A2}"/>
              </a:ext>
            </a:extLst>
          </p:cNvPr>
          <p:cNvSpPr/>
          <p:nvPr/>
        </p:nvSpPr>
        <p:spPr>
          <a:xfrm>
            <a:off x="647235" y="2095997"/>
            <a:ext cx="175565" cy="175565"/>
          </a:xfrm>
          <a:prstGeom prst="star5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E0093D-2877-857A-B410-D2D40354AEAE}"/>
              </a:ext>
            </a:extLst>
          </p:cNvPr>
          <p:cNvSpPr/>
          <p:nvPr/>
        </p:nvSpPr>
        <p:spPr>
          <a:xfrm>
            <a:off x="1038759" y="2049355"/>
            <a:ext cx="6525094" cy="263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kern="0" spc="120" dirty="0">
                <a:solidFill>
                  <a:srgbClr val="8669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CHALLENGE
</a:t>
            </a:r>
            <a:endParaRPr lang="en-US" sz="1400" dirty="0"/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1- Open the file </a:t>
            </a:r>
            <a:r>
              <a:rPr lang="en-US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FinalPackage/Tests/Test_Valiation.py </a:t>
            </a: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Ask GitHub copilot to explain the function def </a:t>
            </a:r>
            <a:r>
              <a:rPr lang="en-US" dirty="0" err="1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test_check_positive_amount_raises_on_negative</a:t>
            </a: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()</a:t>
            </a:r>
          </a:p>
          <a:p>
            <a:pPr>
              <a:lnSpc>
                <a:spcPct val="110000"/>
              </a:lnSpc>
            </a:pPr>
            <a:endParaRPr lang="en-US" dirty="0">
              <a:solidFill>
                <a:srgbClr val="1D211F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2- Add a test for zero amounts</a:t>
            </a:r>
          </a:p>
          <a:p>
            <a:pPr>
              <a:lnSpc>
                <a:spcPct val="110000"/>
              </a:lnSpc>
            </a:pPr>
            <a:endParaRPr lang="en-US" dirty="0">
              <a:solidFill>
                <a:srgbClr val="1D211F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3- Run the test suite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3" name="Text F1">
            <a:extLst>
              <a:ext uri="{FF2B5EF4-FFF2-40B4-BE49-F238E27FC236}">
                <a16:creationId xmlns:a16="http://schemas.microsoft.com/office/drawing/2014/main" id="{5ED1C374-CE4E-C065-ED33-3B965D9DD3F0}"/>
              </a:ext>
            </a:extLst>
          </p:cNvPr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4" name="Text F2">
            <a:extLst>
              <a:ext uri="{FF2B5EF4-FFF2-40B4-BE49-F238E27FC236}">
                <a16:creationId xmlns:a16="http://schemas.microsoft.com/office/drawing/2014/main" id="{0DD3BFCE-9AA7-97D9-17DD-A9A9F25EE001}"/>
              </a:ext>
            </a:extLst>
          </p:cNvPr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681CB3-0FCA-DE0B-754C-BA8761E17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339" y="1771835"/>
            <a:ext cx="4251948" cy="261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28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gear6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Tests &amp; CI/CD Matter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catch regressions automatically — code that worked in your manual demo can silently break when someone edits it six months later.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Integration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(CI) runs your test suite </a:t>
            </a: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automatically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 every push, so nobody has to remember to run it by hand.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0000"/>
              </a:lnSpc>
              <a:spcAft>
                <a:spcPts val="1200"/>
              </a:spcAft>
              <a:buSzPct val="100000"/>
              <a:buFontTx/>
              <a:buChar char="▪"/>
            </a:pPr>
            <a:r>
              <a:rPr lang="en-AE" sz="2000" b="1" dirty="0">
                <a:solidFill>
                  <a:srgbClr val="1D211F"/>
                </a:solidFill>
                <a:latin typeface="IBM Plex Sans" pitchFamily="34" charset="0"/>
              </a:rPr>
              <a:t>Continuous</a:t>
            </a:r>
            <a:r>
              <a:rPr lang="en-AE" sz="2000" dirty="0">
                <a:solidFill>
                  <a:srgbClr val="1D211F"/>
                </a:solidFill>
                <a:latin typeface="IBM Plex Sans" pitchFamily="34" charset="0"/>
              </a:rPr>
              <a:t> </a:t>
            </a:r>
            <a:r>
              <a:rPr lang="en-AE" sz="2000" b="1" dirty="0">
                <a:solidFill>
                  <a:srgbClr val="1D211F"/>
                </a:solidFill>
                <a:latin typeface="IBM Plex Sans" pitchFamily="34" charset="0"/>
              </a:rPr>
              <a:t>Deployment</a:t>
            </a:r>
            <a:r>
              <a:rPr lang="en-AE" sz="2000" dirty="0">
                <a:solidFill>
                  <a:srgbClr val="1D211F"/>
                </a:solidFill>
                <a:latin typeface="IBM Plex Sans" pitchFamily="34" charset="0"/>
              </a:rPr>
              <a:t> automatically builds the package after every passing code change and deploys it straight to live users without human intervention.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</p:txBody>
      </p:sp>
      <p:sp>
        <p:nvSpPr>
          <p:cNvPr id="7" name="Text F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F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93989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gear6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Introducing GitHub Actions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 Actions </a:t>
            </a:r>
            <a:r>
              <a:rPr lang="en-US" sz="2000" b="1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commands automatically in response to repo events 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like “every push” or “every pull request.”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workflow file (.github/workflows/tests.yml) tells GitHub Actions what to run: install dependencies, then run </a:t>
            </a:r>
            <a:r>
              <a:rPr lang="en-US" sz="2000" dirty="0" err="1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pytest</a:t>
            </a: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endParaRPr lang="en-US" sz="20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any test fails, GitHub marks the check as failed — a branch protection rule can then block the merge until it's fixed.</a:t>
            </a:r>
            <a:endParaRPr lang="en-US" sz="2000" dirty="0"/>
          </a:p>
        </p:txBody>
      </p:sp>
      <p:sp>
        <p:nvSpPr>
          <p:cNvPr id="7" name="Text F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F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0431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gear6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BONUS: CI/CD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Minimal Workflow File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name: tests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on: [push, pull_request]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jobs: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test: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runs-on: ubuntu-latest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steps: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- uses: actions/checkout@v4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- uses: actions/setup-python@v5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with: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python-version: "3.11"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- run: pip install -e ".[dev]"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- run: pytest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every push and every PR triggers this - a red X blocks the merge</a:t>
            </a:r>
            <a:endParaRPr lang="en-US" sz="1400" dirty="0"/>
          </a:p>
        </p:txBody>
      </p:sp>
      <p:sp>
        <p:nvSpPr>
          <p:cNvPr id="8" name="Text F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F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74955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RISK_UTILS V1.0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46814"/>
            <a:ext cx="182880" cy="182880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932688" y="1727942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models.py — Transaction, BitcoinTransaction (Day 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40590"/>
            <a:ext cx="182880" cy="182880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32688" y="222171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decorators.py — @timer, @log_call (Day 2)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366"/>
            <a:ext cx="182880" cy="182880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932688" y="271549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validation.py — schema checks, null checks, Z-score outlier tagging (provided)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28142"/>
            <a:ext cx="182880" cy="182880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932688" y="3209270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Organized with Git &amp; GitHub — branched, committed, pushed, and merged to main (today)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21918"/>
            <a:ext cx="182880" cy="182880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932688" y="3703046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fraud.py — velocity checks, Benford's Law, run as SQL (provided)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694"/>
            <a:ext cx="182880" cy="182880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932688" y="4196822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io.py — bulk-loads CSV/Excel folders into a local DuckDB database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809470"/>
            <a:ext cx="182880" cy="182880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932688" y="4690598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Packaged, versioned (0.1.0), documented, installable with pip install -e 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9286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up — future cohorts install risk_utils instead of starting from scratch.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teardrop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Reusing risk_utils in Future Courses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future cohort doesn't relive Day 1-3 — they pip install risk_utils and start from working code.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bug fixed here, every function documented here, is a bug that cohort never hits and a function they don't have to guess about.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That's the actual payoff of today's packaging work: it outlives this room.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diamond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Full Arc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1 — SQL Essentials: querying and joining the AML dataset directly in DuckDB.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2 — Python Essentials: refresher, then classes, decorators, and design patterns, building the first risk_utils code.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3 — Building risk_utils: organized, Git &amp; GitHub workflow, versioned, documented, and published as a real package.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EEA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F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risk_utils v0.1.0 — pip install -e . and it's yours.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5968" y="654802"/>
            <a:ext cx="263347" cy="263347"/>
          </a:xfrm>
          <a:prstGeom prst="upArrow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222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MERGING TO MAIN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658368"/>
            <a:ext cx="10222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Branches Disagree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789920" cy="3840480"/>
          </a:xfrm>
          <a:prstGeom prst="roundRect">
            <a:avLst>
              <a:gd name="adj" fmla="val 285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749808" y="1883664"/>
            <a:ext cx="1038758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&lt;&lt;&lt;&lt;&lt;&lt;&lt; HEAD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flag_velocity(con, max_count=5):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=======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flag_velocity(con, max_count=10):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&gt;&gt;&gt;&gt;&gt;&gt;&gt; your-branch-name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git couldn't tell which version you want - that's a merge conflict.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pick the right lines, delete the &lt;&lt;&lt;&lt; ==== &gt;&gt;&gt;&gt; markers, then: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add risk_utils/fraud.py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 commit -m "Resolve merge conflict in flag_velocity"</a:t>
            </a:r>
            <a:endParaRPr lang="en-US" sz="1400" dirty="0"/>
          </a:p>
        </p:txBody>
      </p:sp>
      <p:sp>
        <p:nvSpPr>
          <p:cNvPr id="8" name="Text F1"/>
          <p:cNvSpPr/>
          <p:nvPr/>
        </p:nvSpPr>
        <p:spPr>
          <a:xfrm>
            <a:off x="548640" y="647486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9" name="Text F2"/>
          <p:cNvSpPr/>
          <p:nvPr/>
        </p:nvSpPr>
        <p:spPr>
          <a:xfrm>
            <a:off x="11090666" y="647486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84149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Patterns: What &amp; Why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73736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design pattern is a reusable, proven solution to a common design problem — not code to copy-paste, but a template you adapt.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each pattern below: we'll look at a problem first, feel the pain of maintaining or extending that code, then see how the pattern solves it.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Patterns are usually grouped by what they do: creational (object creation), structural (composing objects), behavioral (object interaction).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Singleton — 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691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things should exist exactly once across a whole program — a shared config, a single database connection. Plain classes don't guarantee that.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0228" y="2651760"/>
            <a:ext cx="10789920" cy="2011680"/>
          </a:xfrm>
          <a:prstGeom prst="roundRect">
            <a:avLst>
              <a:gd name="adj" fmla="val 272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51396" y="2798064"/>
            <a:ext cx="1038758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config1 = AppConfig()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config1.threshold = 10000</a:t>
            </a:r>
            <a:endParaRPr lang="en-US" sz="1400" dirty="0"/>
          </a:p>
          <a:p>
            <a:pPr>
              <a:lnSpc>
                <a:spcPct val="112000"/>
              </a:lnSpc>
            </a:pP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config2 = AppConfig()          # oops -- a totally separate instance</a:t>
            </a:r>
            <a:endParaRPr lang="en-US" sz="1400" dirty="0"/>
          </a:p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print(config2.threshold)        # not 10000 -- inconsistent state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0228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"configs" that quietly disagree with each other is a real and painful bug to track down.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Singleton — The Pattern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4630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Guarantee exactly one instance ever gets created — every call just hands back the same object. singleton() runs once per decorated class, so instance lives safely in that class's own closure via nonlocal — no shared dict or list required.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Better implementations exist (thread-safe, subclass-aware) — we're using this simpler version here given time constraints.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0228" y="2606040"/>
            <a:ext cx="10789920" cy="3749040"/>
          </a:xfrm>
          <a:prstGeom prst="roundRect">
            <a:avLst>
              <a:gd name="adj" fmla="val 1463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51396" y="2752344"/>
            <a:ext cx="10387584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singleton(cls):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instance = None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get_instance(*args, **kwargs):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nonlocal instance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if instance is None: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instance = cls(*args, **kwargs)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instance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get_instance</a:t>
            </a:r>
            <a:endParaRPr lang="en-US" sz="1150" dirty="0"/>
          </a:p>
          <a:p>
            <a:pPr>
              <a:lnSpc>
                <a:spcPct val="112000"/>
              </a:lnSpc>
            </a:pP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@singleton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AppConfig: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__init__(self):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self.threshold = 10000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config1 = AppConfig()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config2 = AppConfig()</a:t>
            </a:r>
            <a:endParaRPr lang="en-US" sz="1150" dirty="0"/>
          </a:p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config1 is config2          # True -- the same object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Factory — 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Object-creation logic scattered across the codebase — if/elif blocks copy-pasted everywhere an alert gets built.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0228" y="2423160"/>
            <a:ext cx="10789920" cy="2194560"/>
          </a:xfrm>
          <a:prstGeom prst="roundRect">
            <a:avLst>
              <a:gd name="adj" fmla="val 2500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51396" y="2569464"/>
            <a:ext cx="10387584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currency.lower() == "bitcoin":</a:t>
            </a: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txn = BitcoinTransaction(account_number, amount, currency, is_laundering)</a:t>
            </a: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else:</a:t>
            </a: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txn = Transaction(account_number, amount, currency, is_laundering)</a:t>
            </a: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...and the same if/else, copy-pasted, in four other files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0228" y="4800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new alert type, and now you're hunting down every copy of this logic to update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Factory — The Pattern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function owns the decision of which class to build. Callers just ask for what they need.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0228" y="2423160"/>
            <a:ext cx="10789920" cy="2377440"/>
          </a:xfrm>
          <a:prstGeom prst="roundRect">
            <a:avLst>
              <a:gd name="adj" fmla="val 230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51396" y="2569464"/>
            <a:ext cx="1038758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transaction_factory(account_number, amount, currency, is_laundering):</a:t>
            </a: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currency.lower() == "bitcoin":</a:t>
            </a: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BitcoinTransaction(account_number, amount, currency, is_laundering)</a:t>
            </a: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Transaction(account_number, amount, currency, is_laundering)</a:t>
            </a:r>
            <a:endParaRPr lang="en-US" sz="1350" dirty="0"/>
          </a:p>
          <a:p>
            <a:pPr>
              <a:lnSpc>
                <a:spcPct val="112000"/>
              </a:lnSpc>
            </a:pPr>
            <a:endParaRPr lang="en-US" sz="1350" dirty="0"/>
          </a:p>
          <a:p>
            <a:pPr>
              <a:lnSpc>
                <a:spcPct val="112000"/>
              </a:lnSpc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txn = transaction_factory("834A31900", 1, "Bitcoin", 1)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Observer — 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6459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place that flags an alert lists the same reactions by hand. They're not calling one shared function — each one independently repeats the list.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50228" y="2606040"/>
            <a:ext cx="10789920" cy="3291840"/>
          </a:xfrm>
          <a:prstGeom prst="roundRect">
            <a:avLst>
              <a:gd name="adj" fmla="val 1667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51396" y="2752344"/>
            <a:ext cx="10387584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flag_large_transaction(txn):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Transaction(**txn)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send_email(t)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write_to_log(t)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update_dashboard(t)</a:t>
            </a:r>
            <a:endParaRPr lang="en-US" sz="1250" dirty="0"/>
          </a:p>
          <a:p>
            <a:pPr>
              <a:lnSpc>
                <a:spcPct val="112000"/>
              </a:lnSpc>
            </a:pP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flag_laundering_transaction(txn):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Transaction(**txn)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send_email(t)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write_to_log(t)</a:t>
            </a: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update_dashboard(t)</a:t>
            </a:r>
            <a:endParaRPr lang="en-US" sz="1250" dirty="0"/>
          </a:p>
          <a:p>
            <a:pPr>
              <a:lnSpc>
                <a:spcPct val="112000"/>
              </a:lnSpc>
            </a:pPr>
            <a:endParaRPr lang="en-US" sz="1250" dirty="0"/>
          </a:p>
          <a:p>
            <a:pPr>
              <a:lnSpc>
                <a:spcPct val="112000"/>
              </a:lnSpc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 ...and 3 more "flag_*" functions elsewhere, each with its own copy of this list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0228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new reaction (say, a Slack alert)? You have to find and update every one of these functions separately.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Observer — The Pattern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Subscribers register once; the publisher notifies all of them automatically whenever something happens.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0228" y="2423160"/>
            <a:ext cx="10789920" cy="3566160"/>
          </a:xfrm>
          <a:prstGeom prst="roundRect">
            <a:avLst>
              <a:gd name="adj" fmla="val 1538"/>
            </a:avLst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751396" y="2569464"/>
            <a:ext cx="10387584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 AlertPublisher: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__init__(self):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self._subscribers = []</a:t>
            </a:r>
            <a:endParaRPr lang="en-US" sz="1200" dirty="0"/>
          </a:p>
          <a:p>
            <a:pPr>
              <a:lnSpc>
                <a:spcPct val="112000"/>
              </a:lnSpc>
            </a:pP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subscribe(self, fn):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self._subscribers.append(fn)</a:t>
            </a:r>
            <a:endParaRPr lang="en-US" sz="1200" dirty="0"/>
          </a:p>
          <a:p>
            <a:pPr>
              <a:lnSpc>
                <a:spcPct val="112000"/>
              </a:lnSpc>
            </a:pP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def notify(self, alert):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for fn in self._subscribers: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fn(alert)</a:t>
            </a:r>
            <a:endParaRPr lang="en-US" sz="1200" dirty="0"/>
          </a:p>
          <a:p>
            <a:pPr>
              <a:lnSpc>
                <a:spcPct val="112000"/>
              </a:lnSpc>
            </a:pP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publisher = AlertPublisher()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publisher.subscribe(send_email)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publisher.subscribe(write_to_log)</a:t>
            </a:r>
            <a:endParaRPr lang="en-US" sz="1200" dirty="0"/>
          </a:p>
          <a:p>
            <a:pPr>
              <a:lnSpc>
                <a:spcPct val="112000"/>
              </a:lnSpc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publisher.notify(alert)          # every subscriber runs, automatically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228" y="457200"/>
            <a:ext cx="658368" cy="658368"/>
          </a:xfrm>
          <a:prstGeom prst="ellipse">
            <a:avLst/>
          </a:prstGeom>
          <a:solidFill>
            <a:srgbClr val="5C926D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747739" y="654711"/>
            <a:ext cx="263347" cy="263347"/>
          </a:xfrm>
          <a:prstGeom prst="pentagon">
            <a:avLst/>
          </a:prstGeom>
          <a:solidFill>
            <a:srgbClr val="DEEAE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1418908" y="384048"/>
            <a:ext cx="10222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5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PATTERNS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8908" y="658368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233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 These Three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50228" y="1691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Singleton, Factory, and Observer are 3 of roughly 23 classic patterns. Worth knowing the names, even before you know the details: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0228" y="246888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5F7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824548" y="26974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100" dirty="0">
                <a:solidFill>
                  <a:srgbClr val="233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4548" y="310896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Builder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Prototype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Abstract Factory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07828" y="246888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5F7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482148" y="26974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100" dirty="0">
                <a:solidFill>
                  <a:srgbClr val="233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2148" y="310896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Decorator (the pattern)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Facade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Proxy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Composite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Bridge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Flyweight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65428" y="246888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5F7F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8139748" y="26974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kern="0" spc="100" dirty="0">
                <a:solidFill>
                  <a:srgbClr val="233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BEHAVIORAL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9748" y="310896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Command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Template Method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Iterator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Mediator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Memento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Chain of Responsibility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Visitor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D21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Interpreter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0228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200" i="1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won't need all 23 for risk_utils — but recognizing the name and the shape of the problem it solves will save you real time later.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0228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kern="0" spc="1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RISK_UTILS  ·  DAY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32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>
                <a:solidFill>
                  <a:srgbClr val="5C92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3568</Words>
  <Application>Microsoft Office PowerPoint</Application>
  <PresentationFormat>Widescreen</PresentationFormat>
  <Paragraphs>505</Paragraphs>
  <Slides>38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IBM Plex Mono</vt:lpstr>
      <vt:lpstr>IBM Plex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Faisal Goussous</cp:lastModifiedBy>
  <cp:revision>38</cp:revision>
  <dcterms:created xsi:type="dcterms:W3CDTF">2026-08-02T10:21:22Z</dcterms:created>
  <dcterms:modified xsi:type="dcterms:W3CDTF">2026-08-25T10:08:03Z</dcterms:modified>
</cp:coreProperties>
</file>