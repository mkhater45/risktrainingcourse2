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13" r:id="rId29"/>
    <p:sldId id="283" r:id="rId30"/>
    <p:sldId id="284" r:id="rId31"/>
    <p:sldId id="285" r:id="rId32"/>
    <p:sldId id="286" r:id="rId33"/>
    <p:sldId id="290" r:id="rId34"/>
    <p:sldId id="310" r:id="rId35"/>
    <p:sldId id="291" r:id="rId36"/>
    <p:sldId id="292" r:id="rId37"/>
    <p:sldId id="293" r:id="rId38"/>
    <p:sldId id="311" r:id="rId39"/>
    <p:sldId id="294" r:id="rId40"/>
    <p:sldId id="295" r:id="rId41"/>
    <p:sldId id="296" r:id="rId42"/>
    <p:sldId id="297" r:id="rId43"/>
    <p:sldId id="312" r:id="rId44"/>
    <p:sldId id="318" r:id="rId45"/>
    <p:sldId id="314" r:id="rId46"/>
    <p:sldId id="301" r:id="rId47"/>
    <p:sldId id="298" r:id="rId48"/>
    <p:sldId id="299" r:id="rId49"/>
    <p:sldId id="315" r:id="rId50"/>
    <p:sldId id="316" r:id="rId51"/>
    <p:sldId id="317" r:id="rId52"/>
    <p:sldId id="302" r:id="rId53"/>
    <p:sldId id="303" r:id="rId54"/>
    <p:sldId id="306" r:id="rId55"/>
    <p:sldId id="307" r:id="rId56"/>
    <p:sldId id="308" r:id="rId57"/>
    <p:sldId id="309" r:id="rId5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71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E51B-8620-1044-22F1-45AB81B7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88688-60C0-BA08-CBD0-39DEDC88E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36281-AC2E-5CB3-7B95-940C0B152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23DB-9CFC-0372-9D84-D3E7B35BA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575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55496C-96E1-B6A5-C070-F2129877D0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9689" y="372443"/>
            <a:ext cx="1407656" cy="2989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079865" y="3749040"/>
            <a:ext cx="3108960" cy="3108960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10291445" y="5167162"/>
            <a:ext cx="685800" cy="685800"/>
          </a:xfrm>
          <a:prstGeom prst="cub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Essentials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EEA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Refresher, Then: Modularity, OOP, Decorators &amp; Version Control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Faisal Goussous   </a:t>
            </a:r>
            <a:r>
              <a:rPr lang="en-US" sz="130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 August 2026</a:t>
            </a:r>
            <a:endParaRPr lang="en-US" sz="1300" dirty="0"/>
          </a:p>
        </p:txBody>
      </p:sp>
      <p:pic>
        <p:nvPicPr>
          <p:cNvPr id="9" name="Iktima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387000" cy="50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hevr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Back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SELECT, WHERE, GROUP BY, aggregates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CASE WHEN — flagging and bucketing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— and the mistakes that corrupt results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CTEs and self-joins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62940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 (quick!)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953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Modularity &amp; classes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34838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Inheritance &amp; access control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40142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4544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with </a:t>
            </a:r>
            <a:r>
              <a:rPr lang="en-US" sz="14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5074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risk_utils 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YESTERDAY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937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already know Python — slides 1-21 are a fast recap. We'll move quickly.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Your Codespace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5218" y="1656829"/>
            <a:ext cx="938463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repo, same Codespace as Day 1 — resume it rather than creating a new one.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5016366" y="4378211"/>
            <a:ext cx="4296076" cy="1463040"/>
          </a:xfrm>
          <a:prstGeom prst="roundRect">
            <a:avLst>
              <a:gd name="adj" fmla="val 375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5217534" y="4857421"/>
            <a:ext cx="4296076" cy="753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transactions;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COUNT(*) FROM accounts;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79690-F82D-3BC2-CFF0-49FB9305B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36" y="2362650"/>
            <a:ext cx="3055885" cy="36579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7ECEC5-C924-FF3D-FDDE-AE5FD4540AD2}"/>
              </a:ext>
            </a:extLst>
          </p:cNvPr>
          <p:cNvSpPr txBox="1"/>
          <p:nvPr/>
        </p:nvSpPr>
        <p:spPr>
          <a:xfrm>
            <a:off x="4928510" y="3512141"/>
            <a:ext cx="6096000" cy="6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sanity check: confirm the transactions and accounts views are still there.</a:t>
            </a: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Python, Alongside SQL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SQL is great at querying and aggregating data that's already stored — set-based, declarative, fast.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is what you reach for once you need to automate something, reuse logic across many queries, or build a tool other people can run.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Today's goal: go beyond scripts — write modular, object-oriented, professional-grade Python as the foundation of a real package, risk_utils.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hevr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Brief History of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 by Guido van Rossum, first released in 1991 — started as a hobby project over the 1989 Christmas holidays. Named after Monty Python's Flying Circus, not the snake.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Became popular because it reads almost like pseudocode — readability was a design goal from day one, not an afterthought.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“Batteries included” standard library, plus a massive open-source ecosystem, made it a default choice far beyond its scripting-language origins.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it's the dominant language for data science and AI (NumPy, pandas, scikit-learn, PyTorch) — and a big reason it's worth learning well, not just enough to get by.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Types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291840"/>
          </a:xfrm>
          <a:prstGeom prst="roundRect">
            <a:avLst>
              <a:gd name="adj" fmla="val 166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 = 4520.75        # float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currency = "USD"        # str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is_flagged = True       # bool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txn_count = 12          # int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type(amount)             # &lt;class 'float'&gt;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float("4520.75")         # convert str -&gt; float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1554480"/>
          </a:xfrm>
          <a:prstGeom prst="roundRect">
            <a:avLst>
              <a:gd name="adj" fmla="val 3529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large_txn_threshold = 10000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account_id = "834A31900"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is_laundering = False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017520"/>
          </a:xfrm>
          <a:prstGeom prst="roundRect">
            <a:avLst>
              <a:gd name="adj" fmla="val 181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 = [4520.75, 250.00, 18000.00, 999.99]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amounts[0]        # 4520.75  (first item)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amounts[-1]       # 999.99   (last item)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amounts[1:3]      # [250.00, 18000.00]  (slice)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017520"/>
          </a:xfrm>
          <a:prstGeom prst="roundRect">
            <a:avLst>
              <a:gd name="adj" fmla="val 181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amounts.append(325.50)      # add an item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amounts.sort()              # sort in place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len(amounts)                 # how many items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18000.00 in amounts           # membership check -&gt; True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743200"/>
          </a:xfrm>
          <a:prstGeom prst="roundRect">
            <a:avLst>
              <a:gd name="adj" fmla="val 20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 = {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"from_account": "834A31900",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"to_account": "833FCBD00",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"amount_paid": 18000.00,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"payment_currency": "US Dollar",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"is_laundering": 1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Dictionary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108960"/>
          </a:xfrm>
          <a:prstGeom prst="roundRect">
            <a:avLst>
              <a:gd name="adj" fmla="val 1765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txn.keys()               # dict_keys(['from_account', 'to_account', ...])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txn.values()             # dict_values(['834A31900', '833FCBD00', ...])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txn.items()              # key-value pairs, for looping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txn.get("amount_paid")    # 18000.00</a:t>
            </a:r>
            <a:endParaRPr lang="en-US" sz="14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txn.get("missing_key")    # None -- no error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onu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Importing Libraries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468880"/>
          </a:xfrm>
          <a:prstGeom prst="roundRect">
            <a:avLst>
              <a:gd name="adj" fmla="val 2222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math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datetime import datetime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pandas as pd          # alias -- common convention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math.round(4520.75)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datetime.now()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Lists &amp; Dicts — Exercise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286000"/>
          </a:xfrm>
          <a:prstGeom prst="roundRect">
            <a:avLst>
              <a:gd name="adj" fmla="val 24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sample_txns = [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{"account": "A1", "amount_paid": 4500, "is_laundering": 0},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{"account": "A2", "amount_paid": 18000, "is_laundering": 1},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{"account": "A3", "amount_paid": 250, "is_laundering": 0},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print(sample_txns[1]["amount_paid"])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789920" cy="1188720"/>
          </a:xfrm>
          <a:prstGeom prst="roundRect">
            <a:avLst>
              <a:gd name="adj" fmla="val 4615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458114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471281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315968"/>
            <a:ext cx="982980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fourth transaction to the list, then print its account and amount_paid.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Lists &amp; Dicts — Exercise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1737360"/>
          </a:xfrm>
          <a:prstGeom prst="roundRect">
            <a:avLst>
              <a:gd name="adj" fmla="val 315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amounts = [t["amount_paid"] for t in sample_txns]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print(amounts)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print(max(amounts))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412394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425561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3767328"/>
            <a:ext cx="9829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using list-comprehension syntax, write the same amounts list using a for loop instead.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triangl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743200"/>
          </a:xfrm>
          <a:prstGeom prst="roundRect">
            <a:avLst>
              <a:gd name="adj" fmla="val 20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is_large(amount, threshold):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amount &gt; threshold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is_large(18000, 10000)     # True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is_large(250, 10000)       # False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triangl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 (Continued)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566160"/>
          </a:xfrm>
          <a:prstGeom prst="roundRect">
            <a:avLst>
              <a:gd name="adj" fmla="val 153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is_large(amount, threshold=10000):     # default argument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amount &gt; threshold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is_large(18000)             # uses the default threshold -&gt; True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flag(amount, threshold=10000):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amount, amount &gt; threshold          # return multiple values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amt, flagged = flag(18000)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triangl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Higher-Order Functions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higher-order function takes another function as an argument, or returns one. Functions are just values in Python.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789920" cy="3108960"/>
          </a:xfrm>
          <a:prstGeom prst="roundRect">
            <a:avLst>
              <a:gd name="adj" fmla="val 1765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2569464"/>
            <a:ext cx="10387584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apply_to_all(items, func):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[func(i) for i in items]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double(x):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x * 2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apply_to_all([1, 2, 3], double)      # [2, 4, 6]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list(map(double, [1, 2, 3]))          # built-ins are HOFs too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list(filter(lambda x: x &gt; 1, [1, 2, 3]))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this in mind — decorators, later today, are built entirely on this idea.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onu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651760"/>
          </a:xfrm>
          <a:prstGeom prst="roundRect">
            <a:avLst>
              <a:gd name="adj" fmla="val 2069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amount in amounts: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print(amount)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i in range(5):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print(i)                 # 0, 1, 2, 3,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onu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REFRESHER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Loops (Continued)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566160"/>
          </a:xfrm>
          <a:prstGeom prst="roundRect">
            <a:avLst>
              <a:gd name="adj" fmla="val 153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= 0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while i &lt; len(amounts):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amounts[i] &gt; 10000: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break                  # stop the loop early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 += 1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idx, amount in enumerate(amounts):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print(idx, amount)          # position + value together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Functions — Exercise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108960"/>
          </a:xfrm>
          <a:prstGeom prst="roundRect">
            <a:avLst>
              <a:gd name="adj" fmla="val 20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check_positive_amount(amount):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amount &lt;= 0: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raise ValueError(f"amount_paid must be positive, got {amount}")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True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check_required_fields(txn, required=("Account", "Amount_Paid", "Timestamp")):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########################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# Complete the function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########################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26694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39861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5047488"/>
            <a:ext cx="98298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check_required_fields so it raises a ValueError listing any of the required fields missing from txn.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Functions — Exercise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validate_transaction on myTransaction below, then break it on purpose — remove a key or make Amount_Paid negative — and confirm the right error fires.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Hint: validate_transaction() calls check_positive_amount() then check_required_fields() in order — trigger each failure separately to see both error messages.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MODULARITY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Modularity?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Breaking a program into small, focused, independent pieces — functions, classes, modules — that each do one job well and can be combined.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Lego, not a single molded block: standardized pieces you can recombine, swap, and reuse, instead of one giant piece you have to rebuild every time something changes.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Payoff: easier to test (each piece in isolation), easier to reuse, easier to reason about, and easier to change without breaking everything else.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MODULARITY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Modularity — Bad Example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931920"/>
          </a:xfrm>
          <a:prstGeom prst="roundRect">
            <a:avLst>
              <a:gd name="adj" fmla="val 1395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everything inline, repeated, hard to reuse or test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= 0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t in sample_txns: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t["amount_paid"] &gt; 10000: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total = total + t["amount_paid"]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print(total)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...50 lines later, the same threshold check, copy-pasted again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big_ones = []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t in sample_txns: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t["amount_paid"] &gt; 10000: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big_ones.append(t)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MODULARITY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Modularity — Good Example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743200"/>
          </a:xfrm>
          <a:prstGeom prst="roundRect">
            <a:avLst>
              <a:gd name="adj" fmla="val 20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is_large(amount, threshold=10000):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amount &gt; threshold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total_large(transactions, threshold=10000):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sum(t["amount_paid"] for t in transactions if is_large(t["amount_paid"], threshold))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filter_large(transactions, threshold=10000):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[t for t in transactions if is_large(t["amount_paid"], threshold)]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logic, written once (is_large) and reused everywhere it's needed — the threshold only has to change in one place.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Refactoring Practice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0789920" cy="3291840"/>
          </a:xfrm>
          <a:prstGeom prst="roundRect">
            <a:avLst>
              <a:gd name="adj" fmla="val 166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(MESSY VERSION)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038758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txn1 = {'Receiving_Currency': 'US Dollar', 'Amount_Received': 9999}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txn2 = {'Receiving_Currency': 'Rupee', 'Amount_Received': 10**5}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txn1['Receiving_Currency'] == 'US Dollar':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9900 &lt;= txn1['Amount_Received'] &lt; 10000: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print('Possible Fraud!')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txn1['Receiving_Currency'] == 'Rupee':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952058.50*.90 &lt;= txn1['Amount_Received'] &lt; 952058.50: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print('Possible Fraud!')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0789920" cy="1280160"/>
          </a:xfrm>
          <a:prstGeom prst="roundRect">
            <a:avLst>
              <a:gd name="adj" fmla="val 4286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49554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62721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5184648"/>
            <a:ext cx="982980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this into two files — main.py (defines txn1/txn2, calls fraud_checks) and fraud_checks.py (one check_amount(amount, currency) function, using the to_usd_factors dict).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Classes?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dict stores a transaction's data — but has no behavior of its own.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Classes are a natural way to describe the real world: most real things have both properties (data) and behaviors (actions) bundled together.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Car has a color and a fuel level, and it can drive and brake. A BankAccount has a balance and owner, and it can deposit and withdraw. A Customer has a name and risk score, and can be flagged as high-risk.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class lets our code mirror that same shape — data and behavior in one place. This is the first real building block of risk_utils.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383280"/>
          </a:xfrm>
          <a:prstGeom prst="roundRect">
            <a:avLst>
              <a:gd name="adj" fmla="val 1622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account_number, amount, currency, is_laundering):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self.account_number = account_number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self.amount = amount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self.currency = currency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self.is_laundering = is_laundering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 = Transaction("834A31900", 18000, "US Dollar", 1)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txn.amount          # 18000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__init__ runs when a new object is created; self refers to the specific object being built.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3BB3-B30B-96EA-7597-3E623120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0780B9-3792-8D80-7C55-93AB152BB4B2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90FB92-69B6-5653-E931-961D0B20EA2A}"/>
              </a:ext>
            </a:extLst>
          </p:cNvPr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D35C84-1F41-393A-46F5-29FD19D79768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86D28A-79D3-15BA-AA93-84DDC7705C71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Example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BD6271-ED5C-8BEC-5D9B-B0AE04B81D54}"/>
              </a:ext>
            </a:extLst>
          </p:cNvPr>
          <p:cNvSpPr/>
          <p:nvPr/>
        </p:nvSpPr>
        <p:spPr>
          <a:xfrm>
            <a:off x="749809" y="1883664"/>
            <a:ext cx="2129750" cy="80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Example from the Pandas package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32ABAC-4849-DFC6-7ABD-85B060454B73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04D244-B4E5-E7DC-ECDB-CE87BDA3237F}"/>
              </a:ext>
            </a:extLst>
          </p:cNvPr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E8F89-11CA-1737-16FD-C9A27DCD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21" y="1328286"/>
            <a:ext cx="6422526" cy="532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73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Adding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657600"/>
          </a:xfrm>
          <a:prstGeom prst="roundRect">
            <a:avLst>
              <a:gd name="adj" fmla="val 15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account_number, amount, currency, is_laundering):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self.account_number = account_number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self.amount = amount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self.currency = currency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self.is_laundering = is_laundering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is_large(self, threshold=10000):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self.amount &gt; threshold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txn.is_large()          # True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Worked Example: The Transaction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4023360"/>
          </a:xfrm>
          <a:prstGeom prst="roundRect">
            <a:avLst>
              <a:gd name="adj" fmla="val 1364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account_number, account_name, amount, currency, is_laundering, timestamp=None):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self.account_number = account_number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self.account_name = account_name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self.amount = amount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self.currency = currency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self.is_laundering = bool(is_laundering)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self.timestamp = timestamp or datetime.now()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summary(self):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flag = "LAUNDERING" if self.is_laundering else "Not Laundering"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f"[{flag}] account={self.account_number} amount={self.amount}"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Class — Exercise 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method, is_large(), that returns True if the amount (converted to USD) is above $10,000.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Class — Exercise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method, is_reportable(), that returns True if the Transaction is both large and flagged as laundering.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mirrors the CASE WHEN + AND logic from Day 1's SQL — same idea, expressed as a method.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onu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Inheritance: Extending Transaction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Inheritance lets a new class reuse and extend an existing one, instead of copying its code — super().__init__() must forward every field it receives.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789920" cy="2743200"/>
          </a:xfrm>
          <a:prstGeom prst="roundRect">
            <a:avLst>
              <a:gd name="adj" fmla="val 20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2478024"/>
            <a:ext cx="10387584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BitcoinTransaction(Transaction):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account_number, amount,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currency, is_laundering):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super().__init__(account_number, amount,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       currency, is_laundering)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if self.currency.lower() != "bitcoin":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raise ValueError("Not a Bitcoin transaction!")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is_reportable(self):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True   # always reportable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Simplify BitcoinTransaction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now BitcoinTransaction duplicates every line of Transaction. Rewrite it to inherit from Transaction and call super().__init__() instead — is_reportable() should still always return True.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Inheritance: The Diamond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happens when a class inherits from two classes that both inherit from a common base — which version of a shared method wins?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789920" cy="3017520"/>
          </a:xfrm>
          <a:prstGeom prst="roundRect">
            <a:avLst>
              <a:gd name="adj" fmla="val 181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2569464"/>
            <a:ext cx="1038758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A: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greet(self): return "A"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B(A):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greet(self): return "B"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C(A):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greet(self): return "C"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D(B, C):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pass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D().greet()          # "B" -- Python's MRO: D -&gt; B -&gt; C -&gt; 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D.__mro__             # inspect the resolution order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resolves this with a defined Method Resolution Order (MRO / C3 linearization) — deterministic, but easy to get lost in. It's a big reason composition is often preferred over deep multiple inheritance.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Control in Python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789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Unlike Java or C++, Python has no enforced private or protected keywords — access control is convention, not compiler-enforced.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leading underscore (_protected) is just a convention signaling “internal use” — nothing stops external access.</a:t>
            </a:r>
            <a:endParaRPr lang="en-US" sz="14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double leading underscore (__private) triggers name mangling: a compile-time mechanism where Python automatically renames the variable to include the class name, in the format _ClassName__variable.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789920" cy="2103120"/>
          </a:xfrm>
          <a:prstGeom prst="roundRect">
            <a:avLst>
              <a:gd name="adj" fmla="val 2609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3849624"/>
            <a:ext cx="1038758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amount):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self.amount = amount            # public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self._threshold = 10000         # protected -- convention only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self.__internal_id = "A1"       # private -- name-mangled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txn._threshold                  # works, but "you shouldn't"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txn._Transaction__internal_id   # the mangled name -- works, but not true privacy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943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underlying philosophy: “we're all consenting adults here.” Python trusts developers and documentation over walls the compiler enforces.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donu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Composition builds a class out of other objects — a "has-a" relationship, instead of inheritance's "is-a." Transaction will "have" a CurrencyConverter, not "be" one.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789920" cy="3017520"/>
          </a:xfrm>
          <a:prstGeom prst="roundRect">
            <a:avLst>
              <a:gd name="adj" fmla="val 181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2569464"/>
            <a:ext cx="10387584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CurrencyConverter: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to_usd(self, amount, currency):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amount * self.to_usd_factors[currency]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__init__(self, account_number, amount, currency, is_laundering):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self.account_number = account_number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self.amount = amount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self.currency = currency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self._converter = CurrencyConverter()   # "has-a" a converter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CurrencyConverter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1) Write a CurrencyConverter class with a to_usd(amount, base_currency) method. 2) Give Transaction a CurrencyConverter instance in __init__ — composition. 3) Finish is_large() using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Question: what access control should the CurrencyConverter attribute have inside Transaction?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Decorators: Why They Matter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Reuse — apply the same logic (like logging or timing) to dozens of different functions with one line of code.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Separation of Concerns — keep your core business logic clean by separating it from administrative tasks like security or caching.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Pythonic Standard — used everywhere in professional Python frameworks like Flask, FastAPI, and Django.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Decorators: How They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789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decorator is just a higher-order function (slide 17): it takes a function in and returns a new function out.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@decorator_name written above a function is shorthand — it's exactly the same as func = decorator_name(func).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Inside, the decorator defines an inner wrapper() that calls the original function; wrapper is what actually runs when you call the decorated function.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*args, **kwargs let wrapper() accept whatever arguments the original function takes, without needing to know them ahead of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789920" cy="3246120"/>
          </a:xfrm>
          <a:prstGeom prst="roundRect">
            <a:avLst>
              <a:gd name="adj" fmla="val 169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3300984"/>
            <a:ext cx="10387584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my_decorator(func):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wrapper(*args, **kwargs):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print("Before the function runs")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result = func(*args, **kwargs)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print("After the function runs")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result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wrapper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@my_decorator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say_hello(name):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print(f"Hello, {name}!")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say_hello("Faisal")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Decorators: Example 1 — Timing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0789920" cy="3794760"/>
          </a:xfrm>
          <a:prstGeom prst="roundRect">
            <a:avLst>
              <a:gd name="adj" fmla="val 1446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TIMING DECORATOR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057400"/>
            <a:ext cx="1038758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 time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timer(func):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wrapper(*args, **kwargs):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start = time.time()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result = func(*args, **kwargs)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print(f"{func.__name__} took {time.time()-start:.4f}s")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result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wrapper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@timer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flag_high_risk(transactions, threshold=10000):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[t for t in transactions if t["amount_paid"] &gt; threshold]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@timer is shorthand for: flag_high_risk = timer(flag_high_risk) — a decorator is just a higher-order function with nicer syntax.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REUSE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Decorators: Example 2 — Logging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657600"/>
          </a:xfrm>
          <a:prstGeom prst="roundRect">
            <a:avLst>
              <a:gd name="adj" fmla="val 15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LOGGING DECORATOR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log_call(func):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wrapper(*args, **kwargs):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print(f"Calling {func.__name__} with {args}")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func(*args, **kwargs)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wrapper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@log_call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is_large(amount, threshold=10000):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amount &gt; threshold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is_large(18000)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prints: Calling is_large with (18000,)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then returns: True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shape as the timing decorator — one wrapper pattern, reused for a completely different concern.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Decorate Transaction's Methods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731520" y="234086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863194" y="247253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1325880" y="1938528"/>
            <a:ext cx="982980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Finish timer() in decorators.py — call the wrapped function, capture the elapsed time, then print it. Then apply @log_call to is_large() and @timer to is_reportable().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5B36-3807-CA3B-6B81-9FDF5D06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686C10-1098-962D-5A10-6F2758412174}"/>
              </a:ext>
            </a:extLst>
          </p:cNvPr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A5FE27-934B-396D-F2FA-2913FF7CBC14}"/>
              </a:ext>
            </a:extLst>
          </p:cNvPr>
          <p:cNvSpPr/>
          <p:nvPr/>
        </p:nvSpPr>
        <p:spPr>
          <a:xfrm>
            <a:off x="745774" y="655525"/>
            <a:ext cx="263278" cy="263278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D7D338-EA75-46CA-9118-28FA6E4502C2}"/>
              </a:ext>
            </a:extLst>
          </p:cNvPr>
          <p:cNvSpPr/>
          <p:nvPr/>
        </p:nvSpPr>
        <p:spPr>
          <a:xfrm>
            <a:off x="2366458" y="2624248"/>
            <a:ext cx="7334019" cy="157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WITH GITHUB</a:t>
            </a:r>
            <a:endParaRPr lang="en-US" sz="3200" dirty="0"/>
          </a:p>
        </p:txBody>
      </p:sp>
      <p:sp>
        <p:nvSpPr>
          <p:cNvPr id="7" name="Text F1">
            <a:extLst>
              <a:ext uri="{FF2B5EF4-FFF2-40B4-BE49-F238E27FC236}">
                <a16:creationId xmlns:a16="http://schemas.microsoft.com/office/drawing/2014/main" id="{4D5605C5-DB23-E628-10C2-81A6619E1142}"/>
              </a:ext>
            </a:extLst>
          </p:cNvPr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F2">
            <a:extLst>
              <a:ext uri="{FF2B5EF4-FFF2-40B4-BE49-F238E27FC236}">
                <a16:creationId xmlns:a16="http://schemas.microsoft.com/office/drawing/2014/main" id="{273DDF9D-EBAA-DEDE-04DC-6ACCF2F77DD8}"/>
              </a:ext>
            </a:extLst>
          </p:cNvPr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2521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oc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Not Just Use a Shared Drive?</a:t>
            </a:r>
            <a:endParaRPr lang="en-US" sz="2799" dirty="0"/>
          </a:p>
        </p:txBody>
      </p:sp>
      <p:sp>
        <p:nvSpPr>
          <p:cNvPr id="6" name="Text 4"/>
          <p:cNvSpPr/>
          <p:nvPr/>
        </p:nvSpPr>
        <p:spPr>
          <a:xfrm>
            <a:off x="548497" y="1737801"/>
            <a:ext cx="10787110" cy="393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change tracking — if a shared file breaks, there's no history showing what changed, when, or who did it.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save can silently overwrite someone else's — two people editing the same file at once means whoever saves last wins, with no warning.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deleted file is just gone — no easy way to get last week's working version back.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Naming becomes the only “version control” — risk_utils_final.py, risk_utils_final_v2.py, risk_utils_final_ACTUALLY_FINAL.py — and nobody's sure which one is really running.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solves all four of these — that's what the rest of this section covers.</a:t>
            </a:r>
            <a:endParaRPr lang="en-US" sz="1600" dirty="0"/>
          </a:p>
        </p:txBody>
      </p:sp>
      <p:sp>
        <p:nvSpPr>
          <p:cNvPr id="7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 vs. Push vs. Pull</a:t>
            </a:r>
            <a:endParaRPr lang="en-US" sz="2799" dirty="0"/>
          </a:p>
        </p:txBody>
      </p:sp>
      <p:sp>
        <p:nvSpPr>
          <p:cNvPr id="6" name="Line"/>
          <p:cNvSpPr/>
          <p:nvPr/>
        </p:nvSpPr>
        <p:spPr>
          <a:xfrm>
            <a:off x="492365" y="2692057"/>
            <a:ext cx="2779373" cy="1069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three words, three different directions — here's where each one actually moves your code.</a:t>
            </a:r>
            <a:endParaRPr lang="en-US" sz="1500" dirty="0"/>
          </a:p>
        </p:txBody>
      </p:sp>
      <p:sp>
        <p:nvSpPr>
          <p:cNvPr id="18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9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</a:t>
            </a:r>
            <a:endParaRPr lang="en-US" sz="900" dirty="0"/>
          </a:p>
        </p:txBody>
      </p:sp>
      <p:pic>
        <p:nvPicPr>
          <p:cNvPr id="20" name="Picture 19" descr="Git 05: Git Add Changes - Commit | NSF NEON | Open Data to Understand our  Ecosystems">
            <a:extLst>
              <a:ext uri="{FF2B5EF4-FFF2-40B4-BE49-F238E27FC236}">
                <a16:creationId xmlns:a16="http://schemas.microsoft.com/office/drawing/2014/main" id="{C573DAA7-290D-6546-5920-8338252F8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957" y="1299003"/>
            <a:ext cx="7860580" cy="5142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1CFFB4-3F3C-C20C-1073-01D293B7D69A}"/>
              </a:ext>
            </a:extLst>
          </p:cNvPr>
          <p:cNvSpPr txBox="1"/>
          <p:nvPr/>
        </p:nvSpPr>
        <p:spPr>
          <a:xfrm>
            <a:off x="4057595" y="6320224"/>
            <a:ext cx="2550030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sz="1400" b="1" dirty="0"/>
              <a:t>https://www.neonscience.org/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Cloning</a:t>
            </a:r>
            <a:endParaRPr lang="en-US" sz="2799" dirty="0"/>
          </a:p>
        </p:txBody>
      </p:sp>
      <p:sp>
        <p:nvSpPr>
          <p:cNvPr id="6" name="Text 4"/>
          <p:cNvSpPr/>
          <p:nvPr/>
        </p:nvSpPr>
        <p:spPr>
          <a:xfrm>
            <a:off x="548497" y="1737801"/>
            <a:ext cx="10787110" cy="393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Cloning downloads a full copy of a repo — code, history, branches — onto your machine, or in our case, your Codespace.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Launching your Codespace already did this for you: it cloned the course template repo before your first line of code ran.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clone &lt;url&gt; is the manual version of what “Create Codespace” just did automatically.</a:t>
            </a:r>
            <a:endParaRPr lang="en-US" sz="1600" dirty="0"/>
          </a:p>
        </p:txBody>
      </p:sp>
      <p:sp>
        <p:nvSpPr>
          <p:cNvPr id="7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Branching</a:t>
            </a:r>
            <a:endParaRPr lang="en-US" sz="2799" dirty="0"/>
          </a:p>
        </p:txBody>
      </p:sp>
      <p:sp>
        <p:nvSpPr>
          <p:cNvPr id="6" name="Text 4"/>
          <p:cNvSpPr/>
          <p:nvPr/>
        </p:nvSpPr>
        <p:spPr>
          <a:xfrm>
            <a:off x="548497" y="1737801"/>
            <a:ext cx="10787110" cy="393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branch is an independent line of work — changes on it don't touch main until you merge them.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 checkout -b your-branch-name creates a new branch and switches to it in one step.</a:t>
            </a:r>
            <a:endParaRPr lang="en-US" sz="1600" dirty="0"/>
          </a:p>
          <a:p>
            <a:pPr marL="342797" indent="-342797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on your own branch means your teammates' pushes and pulls can't collide with work you haven't committed yet.</a:t>
            </a:r>
            <a:endParaRPr lang="en-US" sz="1600" dirty="0"/>
          </a:p>
        </p:txBody>
      </p:sp>
      <p:sp>
        <p:nvSpPr>
          <p:cNvPr id="7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</a:t>
            </a:r>
            <a:endParaRPr lang="en-US" sz="900" dirty="0"/>
          </a:p>
        </p:txBody>
      </p:sp>
      <p:pic>
        <p:nvPicPr>
          <p:cNvPr id="9" name="Picture 8" descr="GitHub Feature Branch and Pull Request Flow, AI generated">
            <a:extLst>
              <a:ext uri="{FF2B5EF4-FFF2-40B4-BE49-F238E27FC236}">
                <a16:creationId xmlns:a16="http://schemas.microsoft.com/office/drawing/2014/main" id="{A27187CF-90FC-6434-0662-B8CAE8E64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692" y="3428999"/>
            <a:ext cx="7816991" cy="2687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Staging &amp; Committing</a:t>
            </a:r>
            <a:endParaRPr lang="en-US" sz="2799" dirty="0"/>
          </a:p>
        </p:txBody>
      </p:sp>
      <p:sp>
        <p:nvSpPr>
          <p:cNvPr id="6" name="Shape 4"/>
          <p:cNvSpPr/>
          <p:nvPr/>
        </p:nvSpPr>
        <p:spPr>
          <a:xfrm>
            <a:off x="548497" y="1737800"/>
            <a:ext cx="10787110" cy="3839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7" name="Text 5"/>
          <p:cNvSpPr/>
          <p:nvPr/>
        </p:nvSpPr>
        <p:spPr>
          <a:xfrm>
            <a:off x="749612" y="1884066"/>
            <a:ext cx="10384879" cy="354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students/FirstName_LastName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stages the change - tells git "include this in the next commit"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"Add FirstName_LastName folder"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saves a checkpoint, with a message, to your LOCAL history only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nothing has left your machine yet - commit is not the same as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save-to-the-cloud, it's save-a-checkpoint-i-can-return-to</a:t>
            </a:r>
            <a:endParaRPr lang="en-US" sz="1400" dirty="0"/>
          </a:p>
        </p:txBody>
      </p:sp>
      <p:sp>
        <p:nvSpPr>
          <p:cNvPr id="8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F2"/>
          <p:cNvSpPr/>
          <p:nvPr/>
        </p:nvSpPr>
        <p:spPr>
          <a:xfrm>
            <a:off x="11104687" y="6474073"/>
            <a:ext cx="498634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clou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Pushing &amp; Pulling</a:t>
            </a:r>
            <a:endParaRPr lang="en-US" sz="2799" dirty="0"/>
          </a:p>
        </p:txBody>
      </p:sp>
      <p:sp>
        <p:nvSpPr>
          <p:cNvPr id="6" name="Shape 4"/>
          <p:cNvSpPr/>
          <p:nvPr/>
        </p:nvSpPr>
        <p:spPr>
          <a:xfrm>
            <a:off x="548497" y="1737800"/>
            <a:ext cx="10787110" cy="3839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7" name="Text 5"/>
          <p:cNvSpPr/>
          <p:nvPr/>
        </p:nvSpPr>
        <p:spPr>
          <a:xfrm>
            <a:off x="749612" y="1884066"/>
            <a:ext cx="10384879" cy="354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push origin your-branch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uploads your local commits to GitHub - now others can see them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origin your-branch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downloads commits from GitHub that you don't have locally yet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rule of thumb: push shares YOUR work, pull collects EVERYONE else's</a:t>
            </a:r>
            <a:endParaRPr lang="en-US" sz="1400" dirty="0"/>
          </a:p>
        </p:txBody>
      </p:sp>
      <p:sp>
        <p:nvSpPr>
          <p:cNvPr id="8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lightningBolt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BASICS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Something Goes Wrong</a:t>
            </a:r>
            <a:endParaRPr lang="en-US" sz="2799" dirty="0"/>
          </a:p>
        </p:txBody>
      </p:sp>
      <p:sp>
        <p:nvSpPr>
          <p:cNvPr id="6" name="Shape 4"/>
          <p:cNvSpPr/>
          <p:nvPr/>
        </p:nvSpPr>
        <p:spPr>
          <a:xfrm>
            <a:off x="548497" y="1737800"/>
            <a:ext cx="10787110" cy="3839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7" name="Text 5"/>
          <p:cNvSpPr/>
          <p:nvPr/>
        </p:nvSpPr>
        <p:spPr>
          <a:xfrm>
            <a:off x="749612" y="1884066"/>
            <a:ext cx="10384879" cy="354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 [rejected] main -&gt; main (fetch first)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someone else pushed since you last pulled - pull, then push again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pull origin main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fatal: not a git repository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you're not inside the project folder yet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risk_utils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are in 'detached HEAD' state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you checked out a commit instead of a branch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checkout main</a:t>
            </a:r>
            <a:endParaRPr lang="en-US" sz="1400" dirty="0"/>
          </a:p>
        </p:txBody>
      </p:sp>
      <p:sp>
        <p:nvSpPr>
          <p:cNvPr id="8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9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Create, Commit &amp; Push</a:t>
            </a:r>
            <a:endParaRPr lang="en-US" sz="2799" dirty="0"/>
          </a:p>
        </p:txBody>
      </p:sp>
      <p:sp>
        <p:nvSpPr>
          <p:cNvPr id="6" name="Shape 4"/>
          <p:cNvSpPr/>
          <p:nvPr/>
        </p:nvSpPr>
        <p:spPr>
          <a:xfrm>
            <a:off x="548497" y="1737800"/>
            <a:ext cx="10787110" cy="2833902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7" name="Text WRITE"/>
          <p:cNvSpPr/>
          <p:nvPr/>
        </p:nvSpPr>
        <p:spPr>
          <a:xfrm>
            <a:off x="749612" y="1829217"/>
            <a:ext cx="1038487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612" y="2103465"/>
            <a:ext cx="10384879" cy="233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Bottom-left branch icon -&gt; Create new branch -&gt; firstname-lastname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Explorer: new folder "students/FirstName_LastName", new file ".gitkeep" inside it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Control panel (Ctrl+Shift+G): stage with +, message "Add FirstName_LastName folder"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Click Commit, then Sync Changes (this pushes your branch to GitHub)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prefer the terminal? the same add / commit / push commands from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the last two slides work here too - just cd into the repo first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497" y="4754535"/>
            <a:ext cx="10787110" cy="118841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0" name="Shape 8"/>
          <p:cNvSpPr/>
          <p:nvPr/>
        </p:nvSpPr>
        <p:spPr>
          <a:xfrm>
            <a:off x="731329" y="5130118"/>
            <a:ext cx="438798" cy="438798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1" name="Shape 9"/>
          <p:cNvSpPr/>
          <p:nvPr/>
        </p:nvSpPr>
        <p:spPr>
          <a:xfrm>
            <a:off x="862969" y="5262672"/>
            <a:ext cx="175519" cy="17551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2" name="Text 10"/>
          <p:cNvSpPr/>
          <p:nvPr/>
        </p:nvSpPr>
        <p:spPr>
          <a:xfrm>
            <a:off x="1325534" y="4864234"/>
            <a:ext cx="9827240" cy="96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GitHub.com — confirm your branch and folder (with .gitkeep) show up before moving on.</a:t>
            </a:r>
            <a:endParaRPr lang="en-US" sz="1100" dirty="0"/>
          </a:p>
        </p:txBody>
      </p:sp>
      <p:sp>
        <p:nvSpPr>
          <p:cNvPr id="13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496" y="457974"/>
            <a:ext cx="658197" cy="658197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3" name="Shape 1"/>
          <p:cNvSpPr/>
          <p:nvPr/>
        </p:nvSpPr>
        <p:spPr>
          <a:xfrm>
            <a:off x="745774" y="655525"/>
            <a:ext cx="263278" cy="263278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4" name="Text 2"/>
          <p:cNvSpPr/>
          <p:nvPr/>
        </p:nvSpPr>
        <p:spPr>
          <a:xfrm>
            <a:off x="1416950" y="384841"/>
            <a:ext cx="10220330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6950" y="659090"/>
            <a:ext cx="10220330" cy="639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99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Everyone Else's Folders</a:t>
            </a:r>
            <a:endParaRPr lang="en-US" sz="2799" dirty="0"/>
          </a:p>
        </p:txBody>
      </p:sp>
      <p:sp>
        <p:nvSpPr>
          <p:cNvPr id="6" name="Shape 4"/>
          <p:cNvSpPr/>
          <p:nvPr/>
        </p:nvSpPr>
        <p:spPr>
          <a:xfrm>
            <a:off x="548497" y="1737800"/>
            <a:ext cx="10787110" cy="2833902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7" name="Text WRITE"/>
          <p:cNvSpPr/>
          <p:nvPr/>
        </p:nvSpPr>
        <p:spPr>
          <a:xfrm>
            <a:off x="749612" y="1829217"/>
            <a:ext cx="10384879" cy="219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612" y="2103465"/>
            <a:ext cx="10384879" cy="2331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Bottom-left branch icon -&gt; switch to "main"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Control panel -&gt; "..." menu -&gt; Pull (or click the sync icon)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Explorer: open the students/ folder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terminal equivalent: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checkout main &amp;&amp; git pull origin 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497" y="4754535"/>
            <a:ext cx="10787110" cy="118841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0" name="Shape 8"/>
          <p:cNvSpPr/>
          <p:nvPr/>
        </p:nvSpPr>
        <p:spPr>
          <a:xfrm>
            <a:off x="731329" y="5130118"/>
            <a:ext cx="438798" cy="438798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1" name="Shape 9"/>
          <p:cNvSpPr/>
          <p:nvPr/>
        </p:nvSpPr>
        <p:spPr>
          <a:xfrm>
            <a:off x="862969" y="5262672"/>
            <a:ext cx="175519" cy="175519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 sz="1799"/>
          </a:p>
        </p:txBody>
      </p:sp>
      <p:sp>
        <p:nvSpPr>
          <p:cNvPr id="12" name="Text 10"/>
          <p:cNvSpPr/>
          <p:nvPr/>
        </p:nvSpPr>
        <p:spPr>
          <a:xfrm>
            <a:off x="1325534" y="4864234"/>
            <a:ext cx="9827240" cy="96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 the folders in students/ — does it match the number of people in the room?</a:t>
            </a:r>
            <a:endParaRPr lang="en-US" sz="1100" dirty="0"/>
          </a:p>
        </p:txBody>
      </p:sp>
      <p:sp>
        <p:nvSpPr>
          <p:cNvPr id="13" name="Text F1"/>
          <p:cNvSpPr/>
          <p:nvPr/>
        </p:nvSpPr>
        <p:spPr>
          <a:xfrm>
            <a:off x="548497" y="6474073"/>
            <a:ext cx="5484971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F2"/>
          <p:cNvSpPr/>
          <p:nvPr/>
        </p:nvSpPr>
        <p:spPr>
          <a:xfrm>
            <a:off x="11087777" y="6474073"/>
            <a:ext cx="548497" cy="27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PACKAGE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risk_utils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built today — is_large, is_reportable, Transaction, BitcoinTransaction, the @timer and @log_call decorators — is the start of a real, reusable Python package.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Tomorrow: organize it properly, version it, and publish it so future course cohorts can import risk_utils instead of rewriting this from scratch.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PACKAGE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 the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383280"/>
          </a:xfrm>
          <a:prstGeom prst="roundRect">
            <a:avLst>
              <a:gd name="adj" fmla="val 2162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10149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risk_utils/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models.py       — Transaction and BitcoinTransaction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decorators.py   — reusable decorators, e.g. @timer, @log_call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__init__.py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We'll add validation.py, fraud.py, and io.py on Day 3 — today, focus on getting the logic right.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6150" y="654710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Today's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194560"/>
          </a:xfrm>
          <a:prstGeom prst="roundRect">
            <a:avLst>
              <a:gd name="adj" fmla="val 25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models.py                    # decorators.py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Transaction:              def timer(func):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...                             ...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BitcoinTransaction:       def log_call(func):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...                             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0789920" cy="1280160"/>
          </a:xfrm>
          <a:prstGeom prst="roundRect">
            <a:avLst>
              <a:gd name="adj" fmla="val 4286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453542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4667098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224528"/>
            <a:ext cx="982980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your classes and decorators into the right module files from the structure above. Commit both.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ESSENTIALS  · 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2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Python refresher — plus a look at higher-order functions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32688" y="2194560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Modularity — from single-purpose functions to classes as a second tool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932688" y="268833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Classes &amp; objects — building Transaction as a real-world description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Inheritance, the diamond problem, and Python's access-control philosophy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32688" y="3675888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 — code reuse and separation of concerns, industry-standard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182880" cy="182880"/>
          </a:xfrm>
          <a:prstGeom prst="diamond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932688" y="4169664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— </a:t>
            </a:r>
            <a:r>
              <a:rPr lang="en-US" sz="14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repository actions: commit, push, pull, branch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9286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up — Day 3: organizing, versioning, and publishing </a:t>
            </a:r>
            <a:r>
              <a:rPr lang="en-US" sz="1300" i="1" dirty="0" err="1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risk_utils</a:t>
            </a:r>
            <a:r>
              <a:rPr lang="en-US" sz="1300" i="1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+ advanced topics if time permits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4909</Words>
  <Application>Microsoft Office PowerPoint</Application>
  <PresentationFormat>Custom</PresentationFormat>
  <Paragraphs>670</Paragraphs>
  <Slides>57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IBM Plex Mono</vt:lpstr>
      <vt:lpstr>IBM Plex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Faisal Goussous</cp:lastModifiedBy>
  <cp:revision>17</cp:revision>
  <dcterms:created xsi:type="dcterms:W3CDTF">2026-08-01T09:38:22Z</dcterms:created>
  <dcterms:modified xsi:type="dcterms:W3CDTF">2026-08-22T13:16:24Z</dcterms:modified>
</cp:coreProperties>
</file>