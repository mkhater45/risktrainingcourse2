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96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7" r:id="rId40"/>
    <p:sldId id="293" r:id="rId41"/>
    <p:sldId id="294" r:id="rId42"/>
    <p:sldId id="295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50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42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48AB6-B1D7-4ABA-DA3D-4B22FF624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A0039-A7C1-777A-4CAC-351EFC9E1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D6656-8EDC-4156-D3C0-4E3758274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B3C20-3BEF-BFAC-F618-63B3211A15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842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CCF97B-F339-4097-7EBF-75CCA7BDBD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9689" y="372443"/>
            <a:ext cx="1407656" cy="29894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Faisal@tahaconsulting.com" TargetMode="External"/><Relationship Id="rId5" Type="http://schemas.openxmlformats.org/officeDocument/2006/relationships/hyperlink" Target="mailto:Faisal.Goussous@gmail.com" TargetMode="External"/><Relationship Id="rId4" Type="http://schemas.openxmlformats.org/officeDocument/2006/relationships/hyperlink" Target="https://www.linkedin.com/in/faisal-goussous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496645" y="4071486"/>
            <a:ext cx="2695355" cy="2786514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10501422" y="5121843"/>
            <a:ext cx="685800" cy="685800"/>
          </a:xfrm>
          <a:prstGeom prst="cub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Essentials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EEA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Querying, Analyzing, and Investigating Transaction Data with SQL + DuckDB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Faisal Goussous   </a:t>
            </a:r>
            <a:r>
              <a:rPr lang="en-US" sz="130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  August 2026</a:t>
            </a:r>
            <a:endParaRPr lang="en-US" sz="1300" dirty="0"/>
          </a:p>
        </p:txBody>
      </p:sp>
      <p:pic>
        <p:nvPicPr>
          <p:cNvPr id="20" name="Iktimal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2387000" cy="50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chevr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 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Introduction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name, group/department, and what you do day-to-day.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28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thing you hope to get from this course.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28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 seconds each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star5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THE INSTRUCTOR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About the Instructor – Faisal Goussous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2194560" cy="219456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17520" y="1783080"/>
            <a:ext cx="8837596" cy="2845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Faisal Goussous — data &amp; analytics specialist, 15+ years across aviation, healthcare, and insurance.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Analytics Partner at </a:t>
            </a:r>
            <a:r>
              <a:rPr lang="en-US" sz="145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Taha Actuaries and Consultants </a:t>
            </a:r>
            <a:r>
              <a:rPr lang="en-US" sz="14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(Dubai) and </a:t>
            </a:r>
            <a:r>
              <a:rPr lang="en-US" sz="145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Iktimal Data Solutions</a:t>
            </a:r>
            <a:r>
              <a:rPr lang="en-US" sz="14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- risk scoring &amp; pricing models for insurance portfolios covering hundreds of thousands of members.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12+ years in the </a:t>
            </a:r>
            <a:r>
              <a:rPr lang="en-US" sz="145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</a:t>
            </a:r>
            <a:r>
              <a:rPr lang="en-US" sz="14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Senior Research Engineer at </a:t>
            </a:r>
            <a:r>
              <a:rPr lang="en-US" sz="145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 Aviation </a:t>
            </a:r>
            <a:r>
              <a:rPr lang="en-US" sz="14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(modeling aircraft sensor data, U.S. patent) and software engineer at </a:t>
            </a:r>
            <a:r>
              <a:rPr lang="en-US" sz="145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Rockwell Collins</a:t>
            </a:r>
            <a:r>
              <a:rPr lang="en-US" sz="14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MSc &amp; BSc in Electrical &amp; Computer Engineering </a:t>
            </a:r>
            <a:r>
              <a:rPr lang="en-US" sz="14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(First Class Honors) — University of Iowa &amp; University of Jordan; published author.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Delivers hands-on data engineering, visualization and data governance training for analysts, actuaries, and business leaders.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4B5813-F332-0BDD-B600-344D16C0E11E}"/>
              </a:ext>
            </a:extLst>
          </p:cNvPr>
          <p:cNvSpPr txBox="1"/>
          <p:nvPr/>
        </p:nvSpPr>
        <p:spPr>
          <a:xfrm>
            <a:off x="745968" y="5064447"/>
            <a:ext cx="61120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r>
              <a:rPr lang="en-AE" dirty="0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</a:t>
            </a:r>
            <a:r>
              <a:rPr lang="en-AE" dirty="0">
                <a:solidFill>
                  <a:srgbClr val="0563C1"/>
                </a:solidFill>
              </a:rPr>
              <a:t> </a:t>
            </a:r>
            <a:r>
              <a:rPr lang="en-US" dirty="0">
                <a:solidFill>
                  <a:srgbClr val="0563C1"/>
                </a:solidFill>
                <a:hlinkClick r:id="rId4"/>
              </a:rPr>
              <a:t>https://www.linkedin.com/in/faisal-goussous/</a:t>
            </a:r>
            <a:br>
              <a:rPr lang="en-AE" dirty="0"/>
            </a:br>
            <a:endParaRPr lang="en-AE" dirty="0"/>
          </a:p>
          <a:p>
            <a:r>
              <a:rPr lang="en-US" b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</a:t>
            </a:r>
            <a:r>
              <a:rPr lang="en-US" dirty="0">
                <a:solidFill>
                  <a:srgbClr val="0563C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dirty="0">
                <a:solidFill>
                  <a:srgbClr val="0563C1"/>
                </a:solidFill>
                <a:hlinkClick r:id="rId6"/>
              </a:rPr>
              <a:t>faisal@tahaconsulting.com</a:t>
            </a:r>
            <a:endParaRPr lang="en-US" dirty="0">
              <a:solidFill>
                <a:srgbClr val="0563C1"/>
              </a:solidFill>
            </a:endParaRPr>
          </a:p>
          <a:p>
            <a:endParaRPr lang="en-A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hex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COURSE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566160"/>
          </a:xfrm>
          <a:prstGeom prst="roundRect">
            <a:avLst>
              <a:gd name="adj" fmla="val 2051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Setup — GitHub, Codespaces, DuckDB, the datasets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fundamentals — SELECT, WHERE, GROUP BY, CASE WHEN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1546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JOINs — and the mistakes that quietly corrupt your results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703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CTEs — writing multi-step queries that read cleanly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2519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Bonus: self-joins — tracing a chain of transactions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83E885CC-BF50-EF6A-0C07-48C312E500A8}"/>
              </a:ext>
            </a:extLst>
          </p:cNvPr>
          <p:cNvSpPr/>
          <p:nvPr/>
        </p:nvSpPr>
        <p:spPr>
          <a:xfrm>
            <a:off x="867294" y="4781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DEEAE1"/>
                </a:solidFill>
                <a:latin typeface="Montserrat" pitchFamily="34" charset="0"/>
              </a:rPr>
              <a:t>6</a:t>
            </a:r>
            <a:endParaRPr lang="en-US" sz="16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378DF242-D8D4-2C1F-4C2F-7534B630FDDB}"/>
              </a:ext>
            </a:extLst>
          </p:cNvPr>
          <p:cNvSpPr/>
          <p:nvPr/>
        </p:nvSpPr>
        <p:spPr>
          <a:xfrm>
            <a:off x="1370214" y="478189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Bulk Loading Files into </a:t>
            </a:r>
            <a:r>
              <a:rPr lang="en-US" sz="1500" dirty="0" err="1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DuckDB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hex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COURSE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4114800"/>
          </a:xfrm>
          <a:prstGeom prst="roundRect">
            <a:avLst>
              <a:gd name="adj" fmla="val 1778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refresher — data types, functions, loops (quick!)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Modularity &amp; classes — building Transaction class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1546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Inheritance, access control &amp; composition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703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Decorators — @timer, @log_call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2519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Control with </a:t>
            </a:r>
            <a:r>
              <a:rPr lang="en-US" sz="1500" dirty="0" err="1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00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risk_utils code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hex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COURSE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566160"/>
          </a:xfrm>
          <a:prstGeom prst="roundRect">
            <a:avLst>
              <a:gd name="adj" fmla="val 2051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 &amp; audit — schema checks, Z-score outliers, @log_risk_event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Package, version, and install </a:t>
            </a:r>
            <a:r>
              <a:rPr lang="en-US" sz="1500" dirty="0" err="1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risk_utils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0937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09372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Advanced Topics: Design Patterns, CI/CD, </a:t>
            </a:r>
            <a:r>
              <a:rPr lang="en-US" sz="1500" dirty="0" err="1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</a:t>
            </a: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602259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602259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Document, test, and merge to main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lin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COURSE SETUP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hosts Git repositories in the cloud — version control for code and files.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Benefit for this course: one link gets everyone the exact same starting materials; every change is tracked; nothing is ever truly lost.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Beyond this course: it's the industry-standard way teams collaborate on code — a transferable skill, not just course logistics.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lin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COURSE SETUP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Codespaces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Codespace is a full dev environment (VS Code + tools) that runs in the cloud and opens in your browser — tied to a GitHub repo.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to install locally, everyone has an identical environment, and it's disposable — break something, just rebuild it.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can start, stop, and resume a Codespace; it doesn't keep running (and costing time) when you're not using it.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lin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COURSE SETUP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DuckDB and the Datasets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DuckDB: an in-process analytical SQL database — “SQLite for analytics.” No server to install; it queries CSV/Parquet files directly.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transactions — the IBM AML synthetic dataset: timestamps, sending/receiving bank + account, amounts, currencies, payment format, is_laundering flag.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accounts — a lookup table mapping numeric bank/account IDs to human-readable bank_name and entity_name, joined all day on bank_id + account_number.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 Codespaces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834640"/>
          </a:xfrm>
          <a:prstGeom prst="roundRect">
            <a:avLst>
              <a:gd name="adj" fmla="val 3871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-- 1. Launch the Codespace, tour VS Code + the SQL notebook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* FROM transactions LIMIT 10;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Make a small edit (LIMIT 10 -&gt; LIMIT 20)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5129601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5262189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4864608"/>
            <a:ext cx="9829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 your clean transactions and accounts views both return rows before moving 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lightningBolt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SQL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Structured Query Language — a declarative language for tabular data: you describe what you want, not the steps to get it.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Standardized since the mid-1980s, in continuous use for 40+ years.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It's endured because the relational model fits how businesses structure data, and because every major database speaks it — the skill transfers.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lightningBolt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vs Excel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0789920" cy="395020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Excel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SQL / Database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337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Speed at scale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1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Slows down well before a million rows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1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Handles millions–billions of rows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337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Concurrency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1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file, easy to lock/conflict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1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Many people query the same data safely at once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337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Transactions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1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Manual save, easy to overwrite by accident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1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All-or-nothing updates, built-in safety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337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Reproducibility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1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Re-click the same steps by hand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1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Rerun the same script, get the same result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337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Audit trail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1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Clicks aren't logged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1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query itself is a readable record of what was done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lightningBolt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Dialects and Databases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major database has its own SQL “dialect”: Oracle, SQL Server, PostgreSQL, MySQL, Snowflake, BigQuery, DuckDB, and others.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syntax — SELECT, WHERE, JOIN, GROUP BY — is essentially identical everywhere; differences show up in the edges (dates, strings, LIMIT vs TOP).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course teaches portable, generic ANSI SQL. DuckDB is just our sandbox — what you learn transfers directly to whatever your bank runs.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column1, column2 FROM table_name;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* FROM transactions LIMIT 10;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from_bank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to_bank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amount_paid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 10;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SELECT * is great for exploring; name your columns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explicitly once you know what you need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COUNT(*) FROM transactions;              -- total rows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COUNT(*) FROM transactions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is_laundering = 1;                        -- subset count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COUNT(*) counts rows; COUNT(column) counts non-NULL values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in that column - these can give different answers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DISTINCT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DISTINCT payment_currency FROM transactions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BY payment_currency;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COUNT(DISTINCT payment_currency) FROM transactions;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"how many different currencies show up in this dataset?"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run it live, count the result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&amp; DELETE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INSERT INTO table_name (col1, col2) VALUES (val1, val2);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DELETE FROM table_name WHERE condition;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this course is read/analyze (OLAP), not modify (OLTP) -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as an analyst you'll rarely run these against production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banking data. Good to recognize; not a focus today.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Slicing with WHERE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* FROM transactions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is_laundering = 1;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* FROM transactions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amount_paid &gt; 10000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AND payment_currency = 'US Dollar';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* FROM transactions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payment_format IN ('Wire', 'ACH');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 BY &amp; Aggregation (Part 1)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payment_currency, COUNT(*) AS txn_count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BY payment_currency;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payment_currency, SUM(amount_paid) AS total_paid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BY payment_currency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BY total_paid DESC;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collapses same-value rows into one, paired with an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aggregate: COUNT / SUM / AVG / MIN / MAX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 BY &amp; Aggregation (Part 2)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multiple grouping columns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payment_currency, payment_format, COUNT(*) AS txn_count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BY payment_currency, payment_format;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HAVING filters groups AFTER aggregation (WHERE = BEFORE)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payment_currency, COUNT(*) AS txn_count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BY payment_currency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HAVING COUNT(*) &gt; 1000;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 the Data — Exercise 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834640"/>
          </a:xfrm>
          <a:prstGeom prst="roundRect">
            <a:avLst>
              <a:gd name="adj" fmla="val 3871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* FROM transactions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is_laundering = 1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 20;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5129601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5262189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4864608"/>
            <a:ext cx="9829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Modify it to find laundering transactions over $50,000.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 the Data — Exercise 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834640"/>
          </a:xfrm>
          <a:prstGeom prst="roundRect">
            <a:avLst>
              <a:gd name="adj" fmla="val 3871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payment_currency, COUNT(*) AS txn_count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BY payment_currency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BY txn_count DESC;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5129601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5262189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4864608"/>
            <a:ext cx="9829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 the top 3 currencies by total amount paid (SUM), not transaction count.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 the Data — Exercise 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834640"/>
          </a:xfrm>
          <a:prstGeom prst="roundRect">
            <a:avLst>
              <a:gd name="adj" fmla="val 3871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DISTINCT payment_format FROM transactions;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5129601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5262189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4864608"/>
            <a:ext cx="9829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each payment_format, count laundering vs. not (GROUP BY payment_format, is_laundering).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WHEN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amount_paid,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CASE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WHEN amount_paid &gt; 10000 THEN 'Large'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WHEN amount_paid &gt; 1000  THEN 'Medium'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ELSE 'Small'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END AS amount_category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always include an ELSE - skip it, and any unmatched row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silently becomes NULL, a hard-to-notice bug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WHEN in GROUP BY &amp; Aggregation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bucket, then group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CASE WHEN amount_paid &gt; 10000 THEN 'Large' ELSE 'Not Large' END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AS size_bucket,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COUNT(*) AS txn_count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BY size_bucket;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conditional counting inside an aggregate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COUNT(CASE WHEN is_laundering = 1 THEN 1 END) AS laundering_count,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COUNT(CASE WHEN is_laundering = 0 THEN 1 END) AS clean_count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WHEN Practice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834640"/>
          </a:xfrm>
          <a:prstGeom prst="roundRect">
            <a:avLst>
              <a:gd name="adj" fmla="val 3871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*,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CASE WHEN amount_paid &gt; 10000 THEN 'Yes' ELSE 'No' END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AS is_large_txn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 20;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5129601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5262189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4864608"/>
            <a:ext cx="9829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 the threshold to $25,000, or flag based on amount_received instead.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Threshold Variable &amp; % by Currency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834640"/>
          </a:xfrm>
          <a:prstGeom prst="roundRect">
            <a:avLst>
              <a:gd name="adj" fmla="val 3871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payment_currency, COUNT(*) AS total_txns,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COUNT(CASE WHEN is_laundering=1 THEN 1 END) AS laundering_txns,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ROUND(100.0*COUNT(CASE WHEN is_laundering=1 THEN 1 END)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/COUNT(*), 2) AS pct_laundering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BY payment_currency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BY pct_laundering DESC;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tip: SET VARIABLE threshold=10000, use getvariable('threshold')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5129601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5262189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4864608"/>
            <a:ext cx="9829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 your percentage column looks sane, then find the currency with the highest laundering rate.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JOIN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t.*, a.entity_name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 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LEFT JOIN accounts a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ON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t.from_bank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= a.bank_id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AND t.from_account =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a.account_number</a:t>
            </a:r>
            <a:endParaRPr lang="en-US" sz="1400" dirty="0">
              <a:solidFill>
                <a:srgbClr val="FFFFFF"/>
              </a:solidFill>
              <a:latin typeface="IBM Plex Mono" pitchFamily="34" charset="0"/>
              <a:ea typeface="IBM Plex Mono" pitchFamily="34" charset="-122"/>
              <a:cs typeface="IBM Plex Mono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1400" dirty="0">
              <a:solidFill>
                <a:srgbClr val="FFFFFF"/>
              </a:solidFill>
              <a:latin typeface="IBM Plex Mono" pitchFamily="34" charset="0"/>
              <a:ea typeface="IBM Plex Mono" pitchFamily="34" charset="-122"/>
              <a:cs typeface="IBM Plex Mono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limit 100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>
              <a:solidFill>
                <a:srgbClr val="FFFFFF"/>
              </a:solidFill>
              <a:latin typeface="IBM Plex Mono" pitchFamily="34" charset="0"/>
              <a:ea typeface="IBM Plex Mono" pitchFamily="34" charset="-122"/>
              <a:cs typeface="IBM Plex Mono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like VLOOKUP: look up a value from another table by a key -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but a JOIN operates on the whole result set at once, and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critically, it can return more than one match per row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A343A6-A93D-484C-15A1-1828E5B7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039FF8-1CD6-0F9C-4E66-B4DF0DD3AE12}"/>
              </a:ext>
            </a:extLst>
          </p:cNvPr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E492ACB-F59C-F123-5140-A2C5F7A6D060}"/>
              </a:ext>
            </a:extLst>
          </p:cNvPr>
          <p:cNvSpPr/>
          <p:nvPr/>
        </p:nvSpPr>
        <p:spPr>
          <a:xfrm>
            <a:off x="745968" y="654802"/>
            <a:ext cx="263347" cy="263347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811AD0-6611-B4E2-6B82-557EC2F1D9B7}"/>
              </a:ext>
            </a:extLst>
          </p:cNvPr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BASICS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3D2508-B1BF-AFFF-AC77-AEF6C1AC1668}"/>
              </a:ext>
            </a:extLst>
          </p:cNvPr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JOIN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AEC3931-0098-7D2E-622E-933DC8FAA225}"/>
              </a:ext>
            </a:extLst>
          </p:cNvPr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EC6AC0D-5698-A141-A83B-C63069C971AF}"/>
              </a:ext>
            </a:extLst>
          </p:cNvPr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28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F9C633-1539-1AB5-4614-B0C15CF0A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981" y="384048"/>
            <a:ext cx="6354071" cy="590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672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JOIN Example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a.entity_name,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SUM(t.amount_paid) AS total_paid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 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LEFT JOIN accounts a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ON t.from_bank_id = a.bank_id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AND t.from_account = a.account_number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BY a.entity_name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BY total_paid DESC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 10;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fact table joined to a lookup table, then summarized -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one of the most common patterns you'll write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Types of JOIN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3372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1389888" y="210312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3372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1261872" y="2185416"/>
            <a:ext cx="219456" cy="603504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640080" y="294436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3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INNER JOIN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rows with a match in both tables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2103120"/>
            <a:ext cx="768096" cy="768096"/>
          </a:xfrm>
          <a:prstGeom prst="ellipse">
            <a:avLst/>
          </a:prstGeom>
          <a:solidFill>
            <a:srgbClr val="5C926D"/>
          </a:solidFill>
          <a:ln w="19050">
            <a:solidFill>
              <a:srgbClr val="23372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3995928" y="210312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3372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3246120" y="294436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3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 JOIN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32004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rows from the left; unmatched right = NULL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10312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3372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6601968" y="2103120"/>
            <a:ext cx="768096" cy="768096"/>
          </a:xfrm>
          <a:prstGeom prst="ellipse">
            <a:avLst/>
          </a:prstGeom>
          <a:solidFill>
            <a:srgbClr val="5C926D"/>
          </a:solidFill>
          <a:ln w="19050">
            <a:solidFill>
              <a:srgbClr val="23372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5852160" y="294436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3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 JOIN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32004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mirror of LEFT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32520" y="2103120"/>
            <a:ext cx="768096" cy="768096"/>
          </a:xfrm>
          <a:prstGeom prst="ellipse">
            <a:avLst/>
          </a:prstGeom>
          <a:solidFill>
            <a:srgbClr val="5C926D"/>
          </a:solidFill>
          <a:ln w="19050">
            <a:solidFill>
              <a:srgbClr val="23372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9208008" y="2103120"/>
            <a:ext cx="768096" cy="768096"/>
          </a:xfrm>
          <a:prstGeom prst="ellipse">
            <a:avLst/>
          </a:prstGeom>
          <a:solidFill>
            <a:srgbClr val="5C926D"/>
          </a:solidFill>
          <a:ln w="19050">
            <a:solidFill>
              <a:srgbClr val="23372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8458200" y="294436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3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OUTER JOIN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32004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rows from both, matched where possible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6634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Compared to VLOOKUP: same idea (look up by a key) - but VLOOKUP always returns exactly one match. A JOIN can return zero, one, or many, depending on type.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JOIN Practice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834640"/>
          </a:xfrm>
          <a:prstGeom prst="roundRect">
            <a:avLst>
              <a:gd name="adj" fmla="val 3871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a.bank_name, a.entity_name, COUNT(*) AS laundering_txn_count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 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LEFT JOIN accounts a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ON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t.from_bank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= a.bank_id AND t.from_account = a.account_number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t.is_laundering = 1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BY a.bank_name, a.entity_name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BY laundering_txn_count DESC;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5129601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5262189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4864608"/>
            <a:ext cx="9829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Try it grouped by entity_name only, instead of both columns — how does the ranking change?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JOIN Practice — By Bank Only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834640"/>
          </a:xfrm>
          <a:prstGeom prst="roundRect">
            <a:avLst>
              <a:gd name="adj" fmla="val 3871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a.bank_name, COUNT(*) AS laundering_txn_count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 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LEFT JOIN accounts a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ON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t.from_bank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= a.bank_id AND t.from_account = a.account_number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t.is_laundering = 1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BY a.bank_name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BY laundering_txn_count DESC;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5129601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5262189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4864608"/>
            <a:ext cx="9829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this ranking to the by-bank-and-entity version — which banks dominate either way?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Dangers of JOIN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WRONG: joining on bank_id alone, forgetting account_number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COUNT(*)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 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LEFT JOIN accounts a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ON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t.from_bank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= a.bank_id;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every bank has many entities/accounts under it. drop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account_number from the join, and each transaction row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duplicates once per matching entity - row counts explode,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and any SUM on top gets overstated.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VLOOKUP always returns exactly one match. SQL JOIN can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silently multiply your rows.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Dangers of JOIN (Part 2)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COUNT(*) FROM transactions;              -- baseline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COUNT(*) FROM transactions 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LEFT JOIN accounts a ON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t.from_bank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= a.bank_id;   -- much larger!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COUNT(*) FROM transactions 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LEFT JOIN accounts a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ON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t.from_bank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= a.bank_id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AND t.from_account = a.account_number;        -- fixed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after every join, sanity-check the row count against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what you expected before trusting any aggregation on top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fram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INTERMEDIATE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Table Expressions (CTEs)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 large_txns AS (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SELECT * FROM transactions WHERE amount_paid &gt; 10000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COUNT(*) FROM large_txns;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readability: name each step instead of nesting subqueries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reusability: reference the same CTE more than once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no cleanup: unlike a temp table, nothing to drop after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chainable: define several CTEs in sequence, each on the last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fram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INTERMEDIATE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CTE Example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 laundering_flagged AS (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SELECT from_bank_id, from_account, amount_paid, is_laundering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FROM transactions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WHERE is_laundering = 1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from_bank_id,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COUNT(*) AS laundering_txns,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SUM(amount_paid) AS laundering_total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laundering_flagged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BY from_bank_id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BY laundering_total DESC;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chain more CTEs by adding another “, name AS (...)" block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CTE Practice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Take the “percentage of laundering transactions by currency” query from Practical 3.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It's currently a flat query with CASE WHEN inside aggregates.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Restructure it using WITH so the flagging step and the percentage step are each their own named CTE.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731520" y="4580961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863194" y="4713549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1325880" y="4315968"/>
            <a:ext cx="9829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readability side by side with the original — which version would you rather debug at 5pm on a Thursday?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45968" y="654802"/>
            <a:ext cx="263347" cy="263347"/>
          </a:xfrm>
          <a:prstGeom prst="pi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/>
              </a:rPr>
              <a:t>FRAUD DETECTION</a:t>
            </a:r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/>
              </a:rPr>
              <a:t>Benford's Law</a:t>
            </a:r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492910"/>
            <a:ext cx="10789920" cy="14331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D211F"/>
                </a:solidFill>
                <a:latin typeface="IBM Plex Sans"/>
              </a:rPr>
              <a:t>In naturally occurring numbers — transaction amounts, invoice totals, populations — the </a:t>
            </a:r>
            <a:r>
              <a:rPr lang="en-US" sz="1500" b="1" dirty="0">
                <a:solidFill>
                  <a:srgbClr val="1D211F"/>
                </a:solidFill>
                <a:latin typeface="IBM Plex Sans"/>
              </a:rPr>
              <a:t>leading digit </a:t>
            </a:r>
            <a:r>
              <a:rPr lang="en-US" sz="1500" dirty="0">
                <a:solidFill>
                  <a:srgbClr val="1D211F"/>
                </a:solidFill>
                <a:latin typeface="IBM Plex Sans"/>
              </a:rPr>
              <a:t>isn't evenly distributed. About 30% of values start with 1; only ~4.6% start with 9.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11F"/>
                </a:solidFill>
                <a:latin typeface="IBM Plex Sans"/>
              </a:rPr>
              <a:t>That's why it's a standard forensic-accounting check — and one you can run directly in SQL: group transaction amounts by their leading digit and compare the counts to the expected curve below. A flat or spiky distribution is a signal worth investigating, not proof of fraud on its own.</a:t>
            </a:r>
            <a:endParaRPr lang="en-US" sz="1500" dirty="0"/>
          </a:p>
        </p:txBody>
      </p:sp>
      <p:sp>
        <p:nvSpPr>
          <p:cNvPr id="8" name="Text Chart Caption"/>
          <p:cNvSpPr/>
          <p:nvPr/>
        </p:nvSpPr>
        <p:spPr>
          <a:xfrm>
            <a:off x="548640" y="3050000"/>
            <a:ext cx="1078992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B6247"/>
                </a:solidFill>
                <a:latin typeface="IBM Plex Sans"/>
              </a:rPr>
              <a:t>EXPECTED FREQUENCY OF THE LEADING DIGIT</a:t>
            </a:r>
            <a:endParaRPr lang="en-US"/>
          </a:p>
        </p:txBody>
      </p:sp>
      <p:sp>
        <p:nvSpPr>
          <p:cNvPr id="9" name="Shape ChartCard"/>
          <p:cNvSpPr/>
          <p:nvPr/>
        </p:nvSpPr>
        <p:spPr>
          <a:xfrm>
            <a:off x="548640" y="3450000"/>
            <a:ext cx="10789920" cy="2834640"/>
          </a:xfrm>
          <a:prstGeom prst="roundRect">
            <a:avLst/>
          </a:prstGeom>
          <a:solidFill>
            <a:srgbClr val="F5F7F5"/>
          </a:solidFill>
          <a:ln/>
        </p:spPr>
        <p:txBody>
          <a:bodyPr/>
          <a:lstStyle/>
          <a:p>
            <a:endParaRPr lang="en-US"/>
          </a:p>
        </p:txBody>
      </p:sp>
      <p:cxnSp>
        <p:nvCxnSpPr>
          <p:cNvPr id="10" name="Axis Line"/>
          <p:cNvCxnSpPr/>
          <p:nvPr/>
        </p:nvCxnSpPr>
        <p:spPr>
          <a:xfrm>
            <a:off x="1050000" y="5750000"/>
            <a:ext cx="10538560" cy="0"/>
          </a:xfrm>
          <a:prstGeom prst="line">
            <a:avLst/>
          </a:prstGeom>
          <a:ln w="12700">
            <a:solidFill>
              <a:srgbClr val="C3CAC4"/>
            </a:solidFill>
          </a:ln>
        </p:spPr>
      </p:cxnSp>
      <p:sp>
        <p:nvSpPr>
          <p:cNvPr id="11" name="Bar 1"/>
          <p:cNvSpPr/>
          <p:nvPr/>
        </p:nvSpPr>
        <p:spPr>
          <a:xfrm>
            <a:off x="1414364" y="3700001"/>
            <a:ext cx="620000" cy="2049999"/>
          </a:xfrm>
          <a:prstGeom prst="rect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Pct 1"/>
          <p:cNvSpPr/>
          <p:nvPr/>
        </p:nvSpPr>
        <p:spPr>
          <a:xfrm>
            <a:off x="1150000" y="3440001"/>
            <a:ext cx="1148728" cy="230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372A"/>
                </a:solidFill>
                <a:latin typeface="IBM Plex Sans"/>
              </a:rPr>
              <a:t>30.1%</a:t>
            </a:r>
            <a:endParaRPr lang="en-US"/>
          </a:p>
        </p:txBody>
      </p:sp>
      <p:sp>
        <p:nvSpPr>
          <p:cNvPr id="13" name="Digit 1"/>
          <p:cNvSpPr/>
          <p:nvPr/>
        </p:nvSpPr>
        <p:spPr>
          <a:xfrm>
            <a:off x="1150000" y="5810000"/>
            <a:ext cx="1148728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6247"/>
                </a:solidFill>
                <a:latin typeface="Montserrat"/>
              </a:rPr>
              <a:t>1</a:t>
            </a:r>
            <a:endParaRPr lang="en-US"/>
          </a:p>
        </p:txBody>
      </p:sp>
      <p:sp>
        <p:nvSpPr>
          <p:cNvPr id="14" name="Bar 2"/>
          <p:cNvSpPr/>
          <p:nvPr/>
        </p:nvSpPr>
        <p:spPr>
          <a:xfrm>
            <a:off x="2563092" y="4551329"/>
            <a:ext cx="620000" cy="1198671"/>
          </a:xfrm>
          <a:prstGeom prst="rect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Pct 2"/>
          <p:cNvSpPr/>
          <p:nvPr/>
        </p:nvSpPr>
        <p:spPr>
          <a:xfrm>
            <a:off x="2298728" y="4291329"/>
            <a:ext cx="1148728" cy="230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372A"/>
                </a:solidFill>
                <a:latin typeface="IBM Plex Sans"/>
              </a:rPr>
              <a:t>17.6%</a:t>
            </a:r>
            <a:endParaRPr lang="en-US"/>
          </a:p>
        </p:txBody>
      </p:sp>
      <p:sp>
        <p:nvSpPr>
          <p:cNvPr id="16" name="Digit 2"/>
          <p:cNvSpPr/>
          <p:nvPr/>
        </p:nvSpPr>
        <p:spPr>
          <a:xfrm>
            <a:off x="2298728" y="5810000"/>
            <a:ext cx="1148728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6247"/>
                </a:solidFill>
                <a:latin typeface="Montserrat"/>
              </a:rPr>
              <a:t>2</a:t>
            </a:r>
            <a:endParaRPr lang="en-US"/>
          </a:p>
        </p:txBody>
      </p:sp>
      <p:sp>
        <p:nvSpPr>
          <p:cNvPr id="17" name="Bar 3"/>
          <p:cNvSpPr/>
          <p:nvPr/>
        </p:nvSpPr>
        <p:spPr>
          <a:xfrm>
            <a:off x="3711820" y="4898672"/>
            <a:ext cx="620000" cy="851328"/>
          </a:xfrm>
          <a:prstGeom prst="rect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Pct 3"/>
          <p:cNvSpPr/>
          <p:nvPr/>
        </p:nvSpPr>
        <p:spPr>
          <a:xfrm>
            <a:off x="3447456" y="4638672"/>
            <a:ext cx="1148728" cy="230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372A"/>
                </a:solidFill>
                <a:latin typeface="IBM Plex Sans"/>
              </a:rPr>
              <a:t>12.5%</a:t>
            </a:r>
            <a:endParaRPr lang="en-US"/>
          </a:p>
        </p:txBody>
      </p:sp>
      <p:sp>
        <p:nvSpPr>
          <p:cNvPr id="19" name="Digit 3"/>
          <p:cNvSpPr/>
          <p:nvPr/>
        </p:nvSpPr>
        <p:spPr>
          <a:xfrm>
            <a:off x="3447456" y="5810000"/>
            <a:ext cx="1148728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6247"/>
                </a:solidFill>
                <a:latin typeface="Montserrat"/>
              </a:rPr>
              <a:t>3</a:t>
            </a:r>
            <a:endParaRPr lang="en-US"/>
          </a:p>
        </p:txBody>
      </p:sp>
      <p:sp>
        <p:nvSpPr>
          <p:cNvPr id="20" name="Bar 4"/>
          <p:cNvSpPr/>
          <p:nvPr/>
        </p:nvSpPr>
        <p:spPr>
          <a:xfrm>
            <a:off x="4860548" y="5089369"/>
            <a:ext cx="620000" cy="660631"/>
          </a:xfrm>
          <a:prstGeom prst="rect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Pct 4"/>
          <p:cNvSpPr/>
          <p:nvPr/>
        </p:nvSpPr>
        <p:spPr>
          <a:xfrm>
            <a:off x="4596184" y="4829369"/>
            <a:ext cx="1148728" cy="230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372A"/>
                </a:solidFill>
                <a:latin typeface="IBM Plex Sans"/>
              </a:rPr>
              <a:t>9.7%</a:t>
            </a:r>
            <a:endParaRPr lang="en-US"/>
          </a:p>
        </p:txBody>
      </p:sp>
      <p:sp>
        <p:nvSpPr>
          <p:cNvPr id="22" name="Digit 4"/>
          <p:cNvSpPr/>
          <p:nvPr/>
        </p:nvSpPr>
        <p:spPr>
          <a:xfrm>
            <a:off x="4596184" y="5810000"/>
            <a:ext cx="1148728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6247"/>
                </a:solidFill>
                <a:latin typeface="Montserrat"/>
              </a:rPr>
              <a:t>4</a:t>
            </a:r>
            <a:endParaRPr lang="en-US"/>
          </a:p>
        </p:txBody>
      </p:sp>
      <p:sp>
        <p:nvSpPr>
          <p:cNvPr id="23" name="Bar 5"/>
          <p:cNvSpPr/>
          <p:nvPr/>
        </p:nvSpPr>
        <p:spPr>
          <a:xfrm>
            <a:off x="6009276" y="5211961"/>
            <a:ext cx="620000" cy="538039"/>
          </a:xfrm>
          <a:prstGeom prst="rect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Pct 5"/>
          <p:cNvSpPr/>
          <p:nvPr/>
        </p:nvSpPr>
        <p:spPr>
          <a:xfrm>
            <a:off x="5744912" y="4951961"/>
            <a:ext cx="1148728" cy="230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372A"/>
                </a:solidFill>
                <a:latin typeface="IBM Plex Sans"/>
              </a:rPr>
              <a:t>7.9%</a:t>
            </a:r>
            <a:endParaRPr lang="en-US"/>
          </a:p>
        </p:txBody>
      </p:sp>
      <p:sp>
        <p:nvSpPr>
          <p:cNvPr id="25" name="Digit 5"/>
          <p:cNvSpPr/>
          <p:nvPr/>
        </p:nvSpPr>
        <p:spPr>
          <a:xfrm>
            <a:off x="5744912" y="5810000"/>
            <a:ext cx="1148728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6247"/>
                </a:solidFill>
                <a:latin typeface="Montserrat"/>
              </a:rPr>
              <a:t>5</a:t>
            </a:r>
            <a:endParaRPr lang="en-US"/>
          </a:p>
        </p:txBody>
      </p:sp>
      <p:sp>
        <p:nvSpPr>
          <p:cNvPr id="26" name="Bar 6"/>
          <p:cNvSpPr/>
          <p:nvPr/>
        </p:nvSpPr>
        <p:spPr>
          <a:xfrm>
            <a:off x="7158004" y="5293688"/>
            <a:ext cx="620000" cy="456312"/>
          </a:xfrm>
          <a:prstGeom prst="rect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Pct 6"/>
          <p:cNvSpPr/>
          <p:nvPr/>
        </p:nvSpPr>
        <p:spPr>
          <a:xfrm>
            <a:off x="6893640" y="5033688"/>
            <a:ext cx="1148728" cy="230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372A"/>
                </a:solidFill>
                <a:latin typeface="IBM Plex Sans"/>
              </a:rPr>
              <a:t>6.7%</a:t>
            </a:r>
            <a:endParaRPr lang="en-US"/>
          </a:p>
        </p:txBody>
      </p:sp>
      <p:sp>
        <p:nvSpPr>
          <p:cNvPr id="28" name="Digit 6"/>
          <p:cNvSpPr/>
          <p:nvPr/>
        </p:nvSpPr>
        <p:spPr>
          <a:xfrm>
            <a:off x="6893640" y="5810000"/>
            <a:ext cx="1148728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6247"/>
                </a:solidFill>
                <a:latin typeface="Montserrat"/>
              </a:rPr>
              <a:t>6</a:t>
            </a:r>
            <a:endParaRPr lang="en-US"/>
          </a:p>
        </p:txBody>
      </p:sp>
      <p:sp>
        <p:nvSpPr>
          <p:cNvPr id="29" name="Bar 7"/>
          <p:cNvSpPr/>
          <p:nvPr/>
        </p:nvSpPr>
        <p:spPr>
          <a:xfrm>
            <a:off x="8306732" y="5354984"/>
            <a:ext cx="620000" cy="395016"/>
          </a:xfrm>
          <a:prstGeom prst="rect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Pct 7"/>
          <p:cNvSpPr/>
          <p:nvPr/>
        </p:nvSpPr>
        <p:spPr>
          <a:xfrm>
            <a:off x="8042368" y="5094984"/>
            <a:ext cx="1148728" cy="230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372A"/>
                </a:solidFill>
                <a:latin typeface="IBM Plex Sans"/>
              </a:rPr>
              <a:t>5.8%</a:t>
            </a:r>
            <a:endParaRPr lang="en-US"/>
          </a:p>
        </p:txBody>
      </p:sp>
      <p:sp>
        <p:nvSpPr>
          <p:cNvPr id="31" name="Digit 7"/>
          <p:cNvSpPr/>
          <p:nvPr/>
        </p:nvSpPr>
        <p:spPr>
          <a:xfrm>
            <a:off x="8042368" y="5810000"/>
            <a:ext cx="1148728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6247"/>
                </a:solidFill>
                <a:latin typeface="Montserrat"/>
              </a:rPr>
              <a:t>7</a:t>
            </a:r>
            <a:endParaRPr lang="en-US"/>
          </a:p>
        </p:txBody>
      </p:sp>
      <p:sp>
        <p:nvSpPr>
          <p:cNvPr id="32" name="Bar 8"/>
          <p:cNvSpPr/>
          <p:nvPr/>
        </p:nvSpPr>
        <p:spPr>
          <a:xfrm>
            <a:off x="9455460" y="5402658"/>
            <a:ext cx="620000" cy="347342"/>
          </a:xfrm>
          <a:prstGeom prst="rect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Pct 8"/>
          <p:cNvSpPr/>
          <p:nvPr/>
        </p:nvSpPr>
        <p:spPr>
          <a:xfrm>
            <a:off x="9191096" y="5142658"/>
            <a:ext cx="1148728" cy="230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372A"/>
                </a:solidFill>
                <a:latin typeface="IBM Plex Sans"/>
              </a:rPr>
              <a:t>5.1%</a:t>
            </a:r>
            <a:endParaRPr lang="en-US"/>
          </a:p>
        </p:txBody>
      </p:sp>
      <p:sp>
        <p:nvSpPr>
          <p:cNvPr id="34" name="Digit 8"/>
          <p:cNvSpPr/>
          <p:nvPr/>
        </p:nvSpPr>
        <p:spPr>
          <a:xfrm>
            <a:off x="9191096" y="5810000"/>
            <a:ext cx="1148728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6247"/>
                </a:solidFill>
                <a:latin typeface="Montserrat"/>
              </a:rPr>
              <a:t>8</a:t>
            </a:r>
            <a:endParaRPr lang="en-US"/>
          </a:p>
        </p:txBody>
      </p:sp>
      <p:sp>
        <p:nvSpPr>
          <p:cNvPr id="35" name="Bar 9"/>
          <p:cNvSpPr/>
          <p:nvPr/>
        </p:nvSpPr>
        <p:spPr>
          <a:xfrm>
            <a:off x="10604188" y="5436711"/>
            <a:ext cx="620000" cy="313289"/>
          </a:xfrm>
          <a:prstGeom prst="rect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Pct 9"/>
          <p:cNvSpPr/>
          <p:nvPr/>
        </p:nvSpPr>
        <p:spPr>
          <a:xfrm>
            <a:off x="10339824" y="5176711"/>
            <a:ext cx="1148728" cy="230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372A"/>
                </a:solidFill>
                <a:latin typeface="IBM Plex Sans"/>
              </a:rPr>
              <a:t>4.6%</a:t>
            </a:r>
            <a:endParaRPr lang="en-US"/>
          </a:p>
        </p:txBody>
      </p:sp>
      <p:sp>
        <p:nvSpPr>
          <p:cNvPr id="37" name="Digit 9"/>
          <p:cNvSpPr/>
          <p:nvPr/>
        </p:nvSpPr>
        <p:spPr>
          <a:xfrm>
            <a:off x="10339824" y="5810000"/>
            <a:ext cx="1148728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6247"/>
                </a:solidFill>
                <a:latin typeface="Montserrat"/>
              </a:rPr>
              <a:t>9</a:t>
            </a:r>
            <a:endParaRPr lang="en-US"/>
          </a:p>
        </p:txBody>
      </p:sp>
      <p:sp>
        <p:nvSpPr>
          <p:cNvPr id="38" name="Text Footer L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/>
              </a:rPr>
              <a:t>SQL ESSENTIALS  ·  DAY 1</a:t>
            </a:r>
            <a:endParaRPr lang="en-US"/>
          </a:p>
        </p:txBody>
      </p:sp>
      <p:sp>
        <p:nvSpPr>
          <p:cNvPr id="39" name="Text Footer R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/>
              </a:rPr>
              <a:t>38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star4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ADVANCED (BONUS)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Self-Joins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t1.*, t2.*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 t1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 transactions t2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ON t1.to_account = t2.from_account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AND t1.to_bank = t2.from_bank_id;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a self-join joins a table to itself - treat it as two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separate "copies" using aliases (t1, t2)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useful for chains, hierarchies, and "find related rows"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aliasing is required - SQL can't tell the copies apart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star4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ADVANCED (BONUS)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Self-Join Example: Chain of Transactions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t1.from_account AS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acct_a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t1.to_account AS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acct_b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t1.amount_paid AS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amt_a_to_b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t1.Timestamp AS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time_a_to_b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t2.to_account AS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acct_c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t2.amount_paid AS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amt_b_to_c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t2.Timestamp AS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time_b_to_c</a:t>
            </a:r>
            <a:endParaRPr lang="en-US" sz="1400" dirty="0">
              <a:solidFill>
                <a:srgbClr val="FFFFFF"/>
              </a:solidFill>
              <a:latin typeface="IBM Plex Mono" pitchFamily="34" charset="0"/>
              <a:ea typeface="IBM Plex Mono" pitchFamily="34" charset="-122"/>
              <a:cs typeface="IBM Plex Mono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transactions t1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 transactions t2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ON t1.to_account = t2.from_account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AND t1.to_bank = t2.from_bank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t2.Timestamp &gt; t1.Timestamp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AND t1.is_laundering = 1 AND t2.is_laundering = 1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BY t1.Timestamp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 20;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A -&gt; B -&gt; C: money moves, then moves on quickly - a classic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"layering" pattern; self-joins fan out easily too (slide 34)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3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1 RECAP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Covered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46814"/>
            <a:ext cx="182880" cy="182880"/>
          </a:xfrm>
          <a:prstGeom prst="diamond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932688" y="1727942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fundamentals — SELECT, WHERE, GROUP BY, aggregates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40590"/>
            <a:ext cx="182880" cy="182880"/>
          </a:xfrm>
          <a:prstGeom prst="diamond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932688" y="222171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WHEN — flagging and bucketing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34366"/>
            <a:ext cx="182880" cy="182880"/>
          </a:xfrm>
          <a:prstGeom prst="diamond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932688" y="271549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JOIN — combining tables, and the mistakes that quietly corrupt results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28142"/>
            <a:ext cx="182880" cy="182880"/>
          </a:xfrm>
          <a:prstGeom prst="diamond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932688" y="320927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CTEs — writing multi-step queries that read cleanly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21918"/>
            <a:ext cx="182880" cy="182880"/>
          </a:xfrm>
          <a:prstGeom prst="diamond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932688" y="3703046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Bonus: self-joins — tracing a chain of transactions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9286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Bridge: Day 2 — Python builds on this same transaction data.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 — Questions?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lin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 LOADING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Loading Multiple Files into the Database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risk data doesn't arrive as one clean file — it's a folder of monthly CSV and Excel exports from different source systems.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Someone still has to open every file, check the columns line up, and load it somewhere queryable.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Automating that with glob + DuckDB turns a recurring manual chore into a few lines of code, run the same way every month.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lin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 LOADING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Files with glob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 glob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glob.glob("data/*.csv")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['data/jan_transactions.csv', 'data/feb_transactions.csv', ...]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glob.glob("data/**/*.xlsx", recursive=True)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matches .xlsx files in data/ and any subfolder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* matches any characters; ** + recursive=True searches subfolders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lin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 LOADING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Loading CSVs into DuckDB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 duckdb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 = duckdb.connect()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DuckDB accepts a glob pattern directly - no Python loop needed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con.sql("""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CREATE OR REPLACE TABLE transactions AS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SELECT * FROM read_csv_auto('data/*.csv')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""")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one call ingests every matching CSV in the folder</a:t>
            </a:r>
          </a:p>
          <a:p>
            <a:pPr marL="0" indent="0">
              <a:lnSpc>
                <a:spcPct val="112000"/>
              </a:lnSpc>
              <a:buNone/>
            </a:pPr>
            <a:endParaRPr lang="en-US" sz="1400" dirty="0">
              <a:solidFill>
                <a:srgbClr val="FFFFFF"/>
              </a:solidFill>
              <a:latin typeface="IBM Plex Mono" pitchFamily="34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</a:rPr>
              <a:t>Note: if you have the csv pattern stored in a variable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</a:rPr>
              <a:t>csv_pattern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</a:rPr>
              <a:t>, you can use: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</a:rPr>
              <a:t>Select * from 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</a:rPr>
              <a:t>read_csv_auto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</a:rPr>
              <a:t>({</a:t>
            </a:r>
            <a:r>
              <a:rPr lang="en-US" sz="1400" dirty="0" err="1">
                <a:solidFill>
                  <a:srgbClr val="FFFFFF"/>
                </a:solidFill>
                <a:latin typeface="IBM Plex Mono" pitchFamily="34" charset="0"/>
              </a:rPr>
              <a:t>csv_pattern</a:t>
            </a:r>
            <a:r>
              <a:rPr lang="en-US" sz="1400" dirty="0">
                <a:solidFill>
                  <a:srgbClr val="FFFFFF"/>
                </a:solidFill>
                <a:latin typeface="IBM Plex Mono" pitchFamily="34" charset="0"/>
              </a:rPr>
              <a:t>})</a:t>
            </a:r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lin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 LOADING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Loading Excel + Persisting to a Database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 glob, pandas as pd, duckdb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DuckDB can't glob-read Excel directly - loop with pandas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 = duckdb.connect("risk.duckdb")   # file on disk, not memory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path in glob.glob("data/*.xlsx"):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df = pd.read_excel(path)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con.sql("INSERT INTO transactions SELECT * FROM df")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connect("risk.duckdb") -&gt; data survives after the script ends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 a Folder of CSVs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834640"/>
          </a:xfrm>
          <a:prstGeom prst="roundRect">
            <a:avLst>
              <a:gd name="adj" fmla="val 3871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A9873A"/>
                </a:solidFill>
                <a:highlight>
                  <a:srgbClr val="FFFF00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</a:t>
            </a:r>
            <a:endParaRPr lang="en-US" sz="900" b="1" dirty="0">
              <a:highlight>
                <a:srgbClr val="FFFF00"/>
              </a:highlight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 duckdb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load_csv_folder(folder_path, db_path="risk.duckdb"):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con = duckdb.connect(db_path)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con.sql(f"""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CREATE OR REPLACE TABLE transactions AS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SELECT * FROM read_csv_auto('{folder_path}/*.csv')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""")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con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5129601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5262189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4864608"/>
            <a:ext cx="9829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a print statement that reports how many rows landed in the table after loading.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the Excel Files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834640"/>
          </a:xfrm>
          <a:prstGeom prst="roundRect">
            <a:avLst>
              <a:gd name="adj" fmla="val 3871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A9873A"/>
                </a:solidFill>
                <a:highlight>
                  <a:srgbClr val="FFFF00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</a:t>
            </a:r>
            <a:endParaRPr lang="en-US" sz="1050" dirty="0">
              <a:highlight>
                <a:srgbClr val="FFFF00"/>
              </a:highlight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 glob, pandas as pd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load_excel_folder(folder_path, con):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for path in glob.glob(f"{folder_path}/*.xlsx"):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df = pd.read_excel(path)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con.sql("INSERT INTO transactions SELECT * FROM df")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 = load_csv_folder("data")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load_excel_folder("data", con)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5129601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5262189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4864608"/>
            <a:ext cx="9829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happens if an Excel file's columns are in a different order than the CSVs? Test it and see. Then commit and push io.py - you should be getting the hang of this by now.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ESSENTIALS  ·  DAY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4145</Words>
  <Application>Microsoft Office PowerPoint</Application>
  <PresentationFormat>Widescreen</PresentationFormat>
  <Paragraphs>672</Paragraphs>
  <Slides>48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IBM Plex Mono</vt:lpstr>
      <vt:lpstr>IBM Plex Sans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Faisal Goussous</cp:lastModifiedBy>
  <cp:revision>39</cp:revision>
  <dcterms:created xsi:type="dcterms:W3CDTF">2026-08-05T13:47:20Z</dcterms:created>
  <dcterms:modified xsi:type="dcterms:W3CDTF">2026-08-22T12:58:36Z</dcterms:modified>
</cp:coreProperties>
</file>